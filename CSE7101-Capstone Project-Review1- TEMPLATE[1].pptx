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9" r:id="rId7"/>
    <p:sldId id="280" r:id="rId8"/>
    <p:sldId id="281" r:id="rId9"/>
    <p:sldId id="275" r:id="rId10"/>
    <p:sldId id="276" r:id="rId11"/>
    <p:sldId id="273" r:id="rId12"/>
    <p:sldId id="272" r:id="rId13"/>
    <p:sldId id="277" r:id="rId14"/>
    <p:sldId id="268" r:id="rId15"/>
    <p:sldId id="270"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GB" sz="2400" dirty="0">
                <a:solidFill>
                  <a:schemeClr val="tx1"/>
                </a:solidFill>
                <a:latin typeface="Cambria" panose="02040503050406030204" pitchFamily="18" charset="0"/>
                <a:ea typeface="Cambria" panose="02040503050406030204" pitchFamily="18" charset="0"/>
              </a:rPr>
              <a:t>PROJECT TITLE</a:t>
            </a:r>
            <a:br>
              <a:rPr lang="en-GB" sz="2400" dirty="0">
                <a:solidFill>
                  <a:schemeClr val="tx1"/>
                </a:solidFill>
                <a:latin typeface="Cambria" panose="02040503050406030204" pitchFamily="18" charset="0"/>
                <a:ea typeface="Cambria" panose="02040503050406030204" pitchFamily="18" charset="0"/>
              </a:rPr>
            </a:br>
            <a:r>
              <a:rPr lang="en-US" altLang="en-GB" sz="2400" dirty="0">
                <a:solidFill>
                  <a:schemeClr val="tx1"/>
                </a:solidFill>
                <a:latin typeface="Cambria" panose="02040503050406030204" pitchFamily="18" charset="0"/>
                <a:ea typeface="Cambria" panose="02040503050406030204" pitchFamily="18" charset="0"/>
              </a:rPr>
              <a:t>PSCS_282_AI-Driven Crop Disease Prediction and Management System</a:t>
            </a:r>
            <a:endParaRPr lang="en-US" altLang="en-GB"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GB" sz="1800" dirty="0" smtClean="0">
                <a:latin typeface="Cambria" panose="02040503050406030204" pitchFamily="18" charset="0"/>
                <a:ea typeface="Cambria" panose="02040503050406030204" pitchFamily="18" charset="0"/>
              </a:rPr>
              <a:t>:</a:t>
            </a:r>
            <a:r>
              <a:rPr lang="en-IN" altLang="en-GB" sz="1800" dirty="0" smtClean="0">
                <a:latin typeface="Cambria" panose="02040503050406030204" pitchFamily="18" charset="0"/>
                <a:ea typeface="Cambria" panose="02040503050406030204" pitchFamily="18" charset="0"/>
              </a:rPr>
              <a:t>  </a:t>
            </a:r>
            <a:r>
              <a:rPr lang="en-US" altLang="en-GB" sz="1800" dirty="0" smtClean="0">
                <a:latin typeface="Cambria" panose="02040503050406030204" pitchFamily="18" charset="0"/>
                <a:ea typeface="Cambria" panose="02040503050406030204" pitchFamily="18" charset="0"/>
              </a:rPr>
              <a:t>COM_22</a:t>
            </a:r>
            <a:endParaRPr lang="en-US" altLang="en-GB" sz="1800" dirty="0" smtClean="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r>
              <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US" altLang="en-GB" sz="1800" b="1" dirty="0">
                <a:solidFill>
                  <a:schemeClr val="tx1"/>
                </a:solidFill>
                <a:latin typeface="Cambria" panose="02040503050406030204" pitchFamily="18" charset="0"/>
                <a:ea typeface="Cambria" panose="02040503050406030204" pitchFamily="18" charset="0"/>
                <a:sym typeface="+mn-ea"/>
              </a:rPr>
              <a:t>Mr.Muthuraju V</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IN"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2</a:t>
            </a:r>
            <a:endPar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COM</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altLang="en-GB" sz="18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Pallavi R  </a:t>
            </a:r>
            <a:endParaRPr lang="en-US" altLang="en-GB"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altLang="en-GB" sz="18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Benitha Christinal J </a:t>
            </a:r>
            <a:endParaRPr lang="en-US" altLang="en-GB" sz="18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9" name="Table 8"/>
          <p:cNvGraphicFramePr/>
          <p:nvPr>
            <p:custDataLst>
              <p:tags r:id="rId1"/>
            </p:custDataLst>
          </p:nvPr>
        </p:nvGraphicFramePr>
        <p:xfrm>
          <a:off x="732790" y="2513330"/>
          <a:ext cx="4840605" cy="1940560"/>
        </p:xfrm>
        <a:graphic>
          <a:graphicData uri="http://schemas.openxmlformats.org/drawingml/2006/table">
            <a:tbl>
              <a:tblPr firstRow="1" bandRow="1">
                <a:tableStyleId>{5C22544A-7EE6-4342-B048-85BDC9FD1C3A}</a:tableStyleId>
              </a:tblPr>
              <a:tblGrid>
                <a:gridCol w="2529840"/>
                <a:gridCol w="2310765"/>
              </a:tblGrid>
              <a:tr h="485140">
                <a:tc>
                  <a:txBody>
                    <a:bodyPr/>
                    <a:p>
                      <a:r>
                        <a:rPr lang="en-US" altLang="zh-CN" sz="1100"/>
                        <a:t>Roll Number</a:t>
                      </a:r>
                      <a:endParaRPr lang="en-US" altLang="zh-CN" sz="1100"/>
                    </a:p>
                  </a:txBody>
                  <a:tcPr marL="0" marR="0" marT="0" marB="0" anchor="ctr" anchorCtr="0"/>
                </a:tc>
                <a:tc>
                  <a:txBody>
                    <a:bodyPr/>
                    <a:p>
                      <a:r>
                        <a:rPr lang="en-US" altLang="zh-CN" sz="1100"/>
                        <a:t>Student Name</a:t>
                      </a:r>
                      <a:endParaRPr lang="en-US" altLang="zh-CN" sz="1100"/>
                    </a:p>
                  </a:txBody>
                  <a:tcPr marL="0" marR="0" marT="0" marB="0" anchor="ctr" anchorCtr="0"/>
                </a:tc>
              </a:tr>
              <a:tr h="485140">
                <a:tc>
                  <a:txBody>
                    <a:bodyPr/>
                    <a:p>
                      <a:r>
                        <a:rPr lang="en-US" altLang="zh-CN" sz="1100"/>
                        <a:t>20221COM0084</a:t>
                      </a:r>
                      <a:endParaRPr lang="en-US" altLang="zh-CN" sz="1100"/>
                    </a:p>
                  </a:txBody>
                  <a:tcPr marL="0" marR="0" marT="0" marB="0" anchor="ctr" anchorCtr="0"/>
                </a:tc>
                <a:tc>
                  <a:txBody>
                    <a:bodyPr/>
                    <a:p>
                      <a:r>
                        <a:rPr lang="en-US" altLang="zh-CN" sz="1100"/>
                        <a:t>Vishnu M</a:t>
                      </a:r>
                      <a:endParaRPr lang="en-US" altLang="zh-CN" sz="1100"/>
                    </a:p>
                  </a:txBody>
                  <a:tcPr marL="0" marR="0" marT="0" marB="0" anchor="ctr" anchorCtr="0"/>
                </a:tc>
              </a:tr>
              <a:tr h="485140">
                <a:tc>
                  <a:txBody>
                    <a:bodyPr/>
                    <a:p>
                      <a:r>
                        <a:rPr lang="en-US" altLang="zh-CN" sz="1100"/>
                        <a:t>20221COM0096</a:t>
                      </a:r>
                      <a:endParaRPr lang="en-US" altLang="zh-CN" sz="1100"/>
                    </a:p>
                  </a:txBody>
                  <a:tcPr marL="0" marR="0" marT="0" marB="0" anchor="ctr" anchorCtr="0"/>
                </a:tc>
                <a:tc>
                  <a:txBody>
                    <a:bodyPr/>
                    <a:p>
                      <a:r>
                        <a:rPr lang="en-US" altLang="zh-CN" sz="1100"/>
                        <a:t>R Akash</a:t>
                      </a:r>
                      <a:endParaRPr lang="en-US" altLang="zh-CN" sz="1100"/>
                    </a:p>
                  </a:txBody>
                  <a:tcPr marL="0" marR="0" marT="0" marB="0" anchor="ctr" anchorCtr="0"/>
                </a:tc>
              </a:tr>
              <a:tr h="485140">
                <a:tc>
                  <a:txBody>
                    <a:bodyPr/>
                    <a:p>
                      <a:r>
                        <a:rPr lang="en-US" altLang="zh-CN" sz="1100"/>
                        <a:t>20221COM0099</a:t>
                      </a:r>
                      <a:endParaRPr lang="en-US" altLang="zh-CN" sz="1100"/>
                    </a:p>
                  </a:txBody>
                  <a:tcPr marL="0" marR="0" marT="0" marB="0" anchor="ctr" anchorCtr="0"/>
                </a:tc>
                <a:tc>
                  <a:txBody>
                    <a:bodyPr/>
                    <a:p>
                      <a:r>
                        <a:rPr lang="en-US" altLang="zh-CN" sz="1100"/>
                        <a:t>Jagadish T S</a:t>
                      </a:r>
                      <a:endParaRPr lang="en-US" altLang="zh-CN" sz="1100"/>
                    </a:p>
                  </a:txBody>
                  <a:tcPr marL="0" marR="0" marT="0" marB="0" anchor="ctr" anchorCtr="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762000"/>
            <a:ext cx="10456545" cy="5506720"/>
          </a:xfrm>
          <a:prstGeom prst="rect">
            <a:avLst/>
          </a:prstGeom>
          <a:noFill/>
          <a:ln>
            <a:noFill/>
          </a:ln>
        </p:spPr>
        <p:txBody>
          <a:bodyPr spcFirstLastPara="1" wrap="square" lIns="91425" tIns="45700" rIns="91425" bIns="45700" anchor="t" anchorCtr="0">
            <a:normAutofit fontScale="25000"/>
          </a:bodyPr>
          <a:lstStyle/>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GB" sz="6400" b="1" dirty="0" smtClean="0">
                <a:latin typeface="Cambria" panose="02040503050406030204" pitchFamily="18" charset="0"/>
                <a:ea typeface="Cambria" panose="02040503050406030204" pitchFamily="18" charset="0"/>
                <a:sym typeface="+mn-ea"/>
              </a:rPr>
              <a:t>Problem Statement </a:t>
            </a:r>
            <a:r>
              <a:rPr lang="en-IN" altLang="en-GB" sz="6400" b="1" dirty="0" smtClean="0">
                <a:latin typeface="Cambria" panose="02040503050406030204" pitchFamily="18" charset="0"/>
                <a:ea typeface="Cambria" panose="02040503050406030204" pitchFamily="18" charset="0"/>
                <a:sym typeface="+mn-ea"/>
              </a:rPr>
              <a:t>&amp; </a:t>
            </a:r>
            <a:r>
              <a:rPr lang="en-GB" sz="6400" b="1" dirty="0" smtClean="0">
                <a:latin typeface="Cambria" panose="02040503050406030204" pitchFamily="18" charset="0"/>
                <a:ea typeface="Cambria" panose="02040503050406030204" pitchFamily="18" charset="0"/>
                <a:sym typeface="+mn-ea"/>
              </a:rPr>
              <a:t>Number</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Abstract</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Literature Survey</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Objectives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Existing Methods and Drawbacks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Proposed Method &amp; Feasibility Study</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Architecture Diagram</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Modules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Hardware and Software Details</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Timeline (Gantt Chart)</a:t>
            </a:r>
            <a:endParaRPr lang="en-US" altLang="en-GB" sz="6400" b="1" dirty="0">
              <a:latin typeface="Cambria" panose="02040503050406030204" pitchFamily="18" charset="0"/>
              <a:ea typeface="Cambria" panose="02040503050406030204" pitchFamily="18" charset="0"/>
            </a:endParaRPr>
          </a:p>
          <a:p>
            <a:pPr marL="438150" lvl="0" indent="-285750" algn="l" rtl="0">
              <a:lnSpc>
                <a:spcPct val="200000"/>
              </a:lnSpc>
              <a:spcBef>
                <a:spcPts val="0"/>
              </a:spcBef>
              <a:spcAft>
                <a:spcPts val="0"/>
              </a:spcAft>
              <a:buClr>
                <a:schemeClr val="dk1"/>
              </a:buClr>
              <a:buSzPts val="2400"/>
              <a:buFont typeface="Wingdings" panose="05000000000000000000" charset="0"/>
              <a:buChar char="v"/>
            </a:pPr>
            <a:r>
              <a:rPr lang="en-US" altLang="en-GB" sz="6400" b="1" dirty="0">
                <a:latin typeface="Cambria" panose="02040503050406030204" pitchFamily="18" charset="0"/>
                <a:ea typeface="Cambria" panose="02040503050406030204" pitchFamily="18" charset="0"/>
              </a:rPr>
              <a:t>References</a:t>
            </a:r>
            <a:endParaRPr lang="en-US" altLang="en-GB" sz="6400" b="1"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Problem Statement Number: </a:t>
            </a:r>
            <a:r>
              <a:rPr lang="en-US" altLang="en-GB" dirty="0">
                <a:latin typeface="Cambria" panose="02040503050406030204" pitchFamily="18" charset="0"/>
                <a:ea typeface="Cambria" panose="02040503050406030204" pitchFamily="18" charset="0"/>
              </a:rPr>
              <a:t>PSCS_282</a:t>
            </a:r>
            <a:endParaRPr lang="en-US" altLang="en-GB"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0000"/>
          </a:bodyPr>
          <a:lstStyle/>
          <a:p>
            <a:pPr marL="438150" lvl="0" indent="-285750" algn="just">
              <a:spcBef>
                <a:spcPts val="0"/>
              </a:spcBef>
            </a:pPr>
            <a:r>
              <a:rPr lang="en-US" sz="2665" b="1" dirty="0" smtClean="0">
                <a:latin typeface="Cambria" panose="02040503050406030204" pitchFamily="18" charset="0"/>
                <a:ea typeface="Cambria" panose="02040503050406030204" pitchFamily="18" charset="0"/>
              </a:rPr>
              <a:t>Organization</a:t>
            </a:r>
            <a:r>
              <a:rPr 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Presidency University – School of Computer Science and Engineering</a:t>
            </a:r>
            <a:endParaRPr lang="en-US" altLang="en-GB" sz="2665" dirty="0" smtClean="0">
              <a:latin typeface="Cambria" panose="02040503050406030204" pitchFamily="18" charset="0"/>
              <a:ea typeface="Cambria" panose="02040503050406030204" pitchFamily="18" charset="0"/>
            </a:endParaRPr>
          </a:p>
          <a:p>
            <a:pPr marL="438150" lvl="0" indent="-285750" algn="just">
              <a:lnSpc>
                <a:spcPct val="200000"/>
              </a:lnSpc>
              <a:spcBef>
                <a:spcPts val="0"/>
              </a:spcBef>
            </a:pPr>
            <a:r>
              <a:rPr lang="en-US" sz="2665" b="1" dirty="0">
                <a:latin typeface="Cambria" panose="02040503050406030204" pitchFamily="18" charset="0"/>
                <a:ea typeface="Cambria" panose="02040503050406030204" pitchFamily="18" charset="0"/>
              </a:rPr>
              <a:t>Category </a:t>
            </a:r>
            <a:r>
              <a:rPr lang="en-US" sz="2665" b="1" dirty="0" smtClean="0">
                <a:latin typeface="Cambria" panose="02040503050406030204" pitchFamily="18" charset="0"/>
                <a:ea typeface="Cambria" panose="02040503050406030204" pitchFamily="18" charset="0"/>
              </a:rPr>
              <a:t>(Hardware / Software / Both</a:t>
            </a:r>
            <a:r>
              <a:rPr lang="en-US" sz="2665" b="1" dirty="0">
                <a:latin typeface="Cambria" panose="02040503050406030204" pitchFamily="18" charset="0"/>
                <a:ea typeface="Cambria" panose="02040503050406030204" pitchFamily="18" charset="0"/>
              </a:rPr>
              <a:t>) </a:t>
            </a:r>
            <a:r>
              <a:rPr lang="en-US" sz="2665" b="1" dirty="0" smtClean="0">
                <a:latin typeface="Cambria" panose="02040503050406030204" pitchFamily="18" charset="0"/>
                <a:ea typeface="Cambria" panose="02040503050406030204" pitchFamily="18" charset="0"/>
              </a:rPr>
              <a:t>:</a:t>
            </a:r>
            <a:r>
              <a:rPr lang="en-IN" altLang="en-US" sz="2665" dirty="0" smtClean="0">
                <a:latin typeface="Cambria" panose="02040503050406030204" pitchFamily="18" charset="0"/>
                <a:ea typeface="Cambria" panose="02040503050406030204" pitchFamily="18" charset="0"/>
              </a:rPr>
              <a:t> </a:t>
            </a:r>
            <a:r>
              <a:rPr lang="en-US" sz="2665" dirty="0" smtClean="0">
                <a:latin typeface="Cambria" panose="02040503050406030204" pitchFamily="18" charset="0"/>
                <a:ea typeface="Cambria" panose="02040503050406030204" pitchFamily="18" charset="0"/>
                <a:sym typeface="+mn-ea"/>
              </a:rPr>
              <a:t>Software</a:t>
            </a:r>
            <a:endParaRPr lang="en-US" sz="2665" dirty="0" smtClean="0">
              <a:latin typeface="Cambria" panose="02040503050406030204" pitchFamily="18" charset="0"/>
              <a:ea typeface="Cambria" panose="02040503050406030204" pitchFamily="18" charset="0"/>
            </a:endParaRPr>
          </a:p>
          <a:p>
            <a:pPr marL="438150" lvl="0" indent="-285750" algn="just">
              <a:lnSpc>
                <a:spcPct val="200000"/>
              </a:lnSpc>
              <a:spcBef>
                <a:spcPts val="0"/>
              </a:spcBef>
            </a:pPr>
            <a:r>
              <a:rPr lang="en-US" sz="2665" b="1" dirty="0">
                <a:latin typeface="Cambria" panose="02040503050406030204" pitchFamily="18" charset="0"/>
                <a:ea typeface="Cambria" panose="02040503050406030204" pitchFamily="18" charset="0"/>
              </a:rPr>
              <a:t>Problem </a:t>
            </a:r>
            <a:r>
              <a:rPr lang="en-US" sz="2665" b="1" dirty="0" smtClean="0">
                <a:latin typeface="Cambria" panose="02040503050406030204" pitchFamily="18" charset="0"/>
                <a:ea typeface="Cambria" panose="02040503050406030204" pitchFamily="18" charset="0"/>
              </a:rPr>
              <a:t>Description:</a:t>
            </a: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Background: Crop diseases can devastate yields, leading to significant financial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losses for farmers. Early detection and timely intervention are crucial for effective</a:t>
            </a: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management. Description: Develop an AI-driven system that analyzes crop images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and environmental data to predict potential disease outbreaks. This system will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provide farmers with actionable insights and treatment recommendations to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mitigate risks. Expected Solution: A mobile and web-based application that utilizes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machine learning algorithms to identify crop diseases and suggest preventive </a:t>
            </a:r>
            <a:endParaRPr lang="en-US" altLang="en-GB" sz="2665"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IN" altLang="en-US" sz="2665" dirty="0" smtClean="0">
                <a:latin typeface="Cambria" panose="02040503050406030204" pitchFamily="18" charset="0"/>
                <a:ea typeface="Cambria" panose="02040503050406030204" pitchFamily="18" charset="0"/>
              </a:rPr>
              <a:t>         </a:t>
            </a:r>
            <a:r>
              <a:rPr lang="en-US" altLang="en-GB" sz="2665" dirty="0" smtClean="0">
                <a:latin typeface="Cambria" panose="02040503050406030204" pitchFamily="18" charset="0"/>
                <a:ea typeface="Cambria" panose="02040503050406030204" pitchFamily="18" charset="0"/>
              </a:rPr>
              <a:t>measures and treatments based on real-time data.</a:t>
            </a:r>
            <a:endParaRPr lang="en-US" altLang="en-GB" sz="2665" dirty="0" smtClean="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sym typeface="+mn-ea"/>
              </a:rPr>
              <a:t>Abstract</a:t>
            </a:r>
            <a:endParaRPr lang="en-GB" altLang="en-US"/>
          </a:p>
        </p:txBody>
      </p:sp>
      <p:sp>
        <p:nvSpPr>
          <p:cNvPr id="3" name="Text Placeholder 2"/>
          <p:cNvSpPr>
            <a:spLocks noGrp="1"/>
          </p:cNvSpPr>
          <p:nvPr>
            <p:ph type="body" idx="1"/>
          </p:nvPr>
        </p:nvSpPr>
        <p:spPr/>
        <p:txBody>
          <a:bodyPr>
            <a:normAutofit/>
          </a:bodyPr>
          <a:p>
            <a:pPr marL="76200" indent="0">
              <a:buNone/>
            </a:pPr>
            <a:r>
              <a:rPr lang="en-US" altLang="en-GB">
                <a:latin typeface="Calibri" panose="020F0502020204030204" charset="0"/>
                <a:cs typeface="Calibri" panose="020F0502020204030204" charset="0"/>
              </a:rPr>
              <a:t>Crop diseases cause significant agricultural losses, impacting both yield and farmer income. Existing detection methods are mostly manual, slow, and dependent on expert knowledge, while lacking proper treatment guidance. Recent advancements in convolutional neural networks (CNNs) have shown promising results in plant disease detection; however, most studies remain limited to controlled datasets and lack real-world deployment. To address this gap, we propose an AI-driven solution that not only detects crop diseases but also provides treatment suggestions, accessible through mobile and web platforms. As part of our current progress, we have trained a CNN-based model (plant_disease_model.h5) and integrated it with a React Native frontend and a FastAPI backend to enable real-time predictions and farmer usability.</a:t>
            </a:r>
            <a:endParaRPr lang="en-US" altLang="en-GB">
              <a:latin typeface="Calibri" panose="020F0502020204030204" charset="0"/>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Literature Survey</a:t>
            </a:r>
            <a:endParaRPr lang="en-US" altLang="en-GB"/>
          </a:p>
        </p:txBody>
      </p:sp>
      <p:sp>
        <p:nvSpPr>
          <p:cNvPr id="3" name="Text Placeholder 2"/>
          <p:cNvSpPr>
            <a:spLocks noGrp="1"/>
          </p:cNvSpPr>
          <p:nvPr>
            <p:ph type="body" idx="1"/>
          </p:nvPr>
        </p:nvSpPr>
        <p:spPr>
          <a:xfrm>
            <a:off x="812800" y="923290"/>
            <a:ext cx="10668000" cy="5010785"/>
          </a:xfrm>
        </p:spPr>
        <p:txBody>
          <a:bodyPr>
            <a:noAutofit/>
          </a:bodyPr>
          <a:p>
            <a:pPr marL="76200" indent="0">
              <a:buNone/>
            </a:pPr>
            <a:r>
              <a:rPr lang="en-US" altLang="en-GB" sz="1500">
                <a:latin typeface="Calibri" panose="020F0502020204030204" charset="0"/>
                <a:cs typeface="Calibri" panose="020F0502020204030204" charset="0"/>
              </a:rPr>
              <a:t>1) Mohanty et al. (2016) – Deep Learning for Plant Disease Detection</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CNN on PlantVillage dataset (54k images), ~99% accuracy under lab conditions.</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Limitation: Poor field performance; no severity or treatment support.</a:t>
            </a:r>
            <a:endParaRPr lang="en-US" altLang="en-GB" sz="1500">
              <a:latin typeface="Calibri" panose="020F0502020204030204" charset="0"/>
              <a:cs typeface="Calibri" panose="020F0502020204030204" charset="0"/>
            </a:endParaRPr>
          </a:p>
          <a:p>
            <a:pPr marL="76200" indent="0">
              <a:buNone/>
            </a:pPr>
            <a:r>
              <a:rPr lang="en-US" altLang="en-GB" sz="1500">
                <a:latin typeface="Calibri" panose="020F0502020204030204" charset="0"/>
                <a:cs typeface="Calibri" panose="020F0502020204030204" charset="0"/>
              </a:rPr>
              <a:t>2) Ferentinos (2018) – Deep CNN Benchmark</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Compared CNNs (ResNet, Inception, DenseNet) for crop diseases.</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Limitation: Only classification accuracy; not field-deployable.</a:t>
            </a:r>
            <a:endParaRPr lang="en-US" altLang="en-GB" sz="1500">
              <a:latin typeface="Calibri" panose="020F0502020204030204" charset="0"/>
              <a:cs typeface="Calibri" panose="020F0502020204030204" charset="0"/>
            </a:endParaRPr>
          </a:p>
          <a:p>
            <a:pPr marL="76200" indent="0">
              <a:buNone/>
            </a:pPr>
            <a:r>
              <a:rPr lang="en-US" altLang="en-GB" sz="1500">
                <a:latin typeface="Calibri" panose="020F0502020204030204" charset="0"/>
                <a:cs typeface="Calibri" panose="020F0502020204030204" charset="0"/>
              </a:rPr>
              <a:t>3) Khan et al. (2023) – Edge Deployment</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Lightweight CNNs with pruning/quantization for mobile.</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Limitation: Ignores noisy field images &amp; rural connectivity issues.</a:t>
            </a:r>
            <a:endParaRPr lang="en-US" altLang="en-GB" sz="1500">
              <a:latin typeface="Calibri" panose="020F0502020204030204" charset="0"/>
              <a:cs typeface="Calibri" panose="020F0502020204030204" charset="0"/>
            </a:endParaRPr>
          </a:p>
          <a:p>
            <a:pPr marL="76200" indent="0">
              <a:buNone/>
            </a:pPr>
            <a:r>
              <a:rPr lang="en-US" altLang="en-GB" sz="1500">
                <a:latin typeface="Calibri" panose="020F0502020204030204" charset="0"/>
                <a:cs typeface="Calibri" panose="020F0502020204030204" charset="0"/>
              </a:rPr>
              <a:t>4) Ding et al. (2023) – Prescription Recommendation</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Embedding-based retrieval system for treatment guidance.</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Limitation: Effectiveness depends on pesticide DB coverage.</a:t>
            </a:r>
            <a:endParaRPr lang="en-US" altLang="en-GB" sz="1500">
              <a:latin typeface="Calibri" panose="020F0502020204030204" charset="0"/>
              <a:cs typeface="Calibri" panose="020F0502020204030204" charset="0"/>
            </a:endParaRPr>
          </a:p>
          <a:p>
            <a:pPr marL="76200" indent="0">
              <a:buNone/>
            </a:pPr>
            <a:r>
              <a:rPr lang="en-US" altLang="en-GB" sz="1500">
                <a:latin typeface="Calibri" panose="020F0502020204030204" charset="0"/>
                <a:cs typeface="Calibri" panose="020F0502020204030204" charset="0"/>
              </a:rPr>
              <a:t>5) Bedi et al. (2024) – PDSE-Lite (Severity Estimation)</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Segmentation to estimate disease severity (% infected pixels).</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Limitation: Struggles with occlusion &amp; multi-leaf field images.</a:t>
            </a:r>
            <a:endParaRPr lang="en-US" altLang="en-GB" sz="1500">
              <a:latin typeface="Calibri" panose="020F0502020204030204" charset="0"/>
              <a:cs typeface="Calibri" panose="020F0502020204030204" charset="0"/>
            </a:endParaRPr>
          </a:p>
          <a:p>
            <a:pPr marL="76200" indent="0">
              <a:buNone/>
            </a:pPr>
            <a:r>
              <a:rPr lang="en-US" altLang="en-GB" sz="1500">
                <a:latin typeface="Calibri" panose="020F0502020204030204" charset="0"/>
                <a:cs typeface="Calibri" panose="020F0502020204030204" charset="0"/>
              </a:rPr>
              <a:t>6) Wu et al. (2023) – Domain Adaptation</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Field-style augmentation + unsupervised adaptation.</a:t>
            </a:r>
            <a:endParaRPr lang="en-US" altLang="en-GB" sz="1500">
              <a:latin typeface="Calibri" panose="020F0502020204030204" charset="0"/>
              <a:cs typeface="Calibri" panose="020F0502020204030204" charset="0"/>
            </a:endParaRPr>
          </a:p>
          <a:p>
            <a:r>
              <a:rPr lang="en-US" altLang="en-GB" sz="1500">
                <a:latin typeface="Calibri" panose="020F0502020204030204" charset="0"/>
                <a:cs typeface="Calibri" panose="020F0502020204030204" charset="0"/>
              </a:rPr>
              <a:t>Limitation: Complex; performance gain depends on dataset similarity.</a:t>
            </a:r>
            <a:endParaRPr lang="en-US" altLang="en-GB" sz="150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sym typeface="+mn-ea"/>
              </a:rPr>
              <a:t>Literature Survey</a:t>
            </a:r>
            <a:r>
              <a:rPr lang="en-US" dirty="0" smtClean="0">
                <a:latin typeface="Cambria" panose="02040503050406030204" pitchFamily="18" charset="0"/>
                <a:ea typeface="Cambria" panose="02040503050406030204" pitchFamily="18" charset="0"/>
                <a:sym typeface="+mn-ea"/>
              </a:rPr>
              <a:t>(contd...)</a:t>
            </a:r>
            <a:endParaRPr lang="en-GB" altLang="en-US"/>
          </a:p>
        </p:txBody>
      </p:sp>
      <p:sp>
        <p:nvSpPr>
          <p:cNvPr id="3" name="Text Placeholder 2"/>
          <p:cNvSpPr>
            <a:spLocks noGrp="1"/>
          </p:cNvSpPr>
          <p:nvPr>
            <p:ph type="body" idx="1"/>
          </p:nvPr>
        </p:nvSpPr>
        <p:spPr/>
        <p:txBody>
          <a:bodyPr>
            <a:normAutofit/>
          </a:bodyPr>
          <a:p>
            <a:pPr marL="76200" indent="0" algn="l">
              <a:buNone/>
            </a:pPr>
            <a:r>
              <a:rPr lang="en-US" altLang="en-GB" sz="1500">
                <a:latin typeface="Calibri" panose="020F0502020204030204" charset="0"/>
                <a:cs typeface="Calibri" panose="020F0502020204030204" charset="0"/>
              </a:rPr>
              <a:t>7) EfficientNet Studies (2022–2025)</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High accuracy with fewer parameters (scalable).</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Limitation: Heavier than MobileNet → trade-off for devices.</a:t>
            </a:r>
            <a:endParaRPr lang="en-US" altLang="en-GB" sz="1500">
              <a:latin typeface="Calibri" panose="020F0502020204030204" charset="0"/>
              <a:cs typeface="Calibri" panose="020F0502020204030204" charset="0"/>
            </a:endParaRPr>
          </a:p>
          <a:p>
            <a:pPr marL="76200" indent="0" algn="l">
              <a:buNone/>
            </a:pPr>
            <a:r>
              <a:rPr lang="en-US" altLang="en-GB" sz="1500">
                <a:latin typeface="Calibri" panose="020F0502020204030204" charset="0"/>
                <a:cs typeface="Calibri" panose="020F0502020204030204" charset="0"/>
              </a:rPr>
              <a:t>8) Ensemble Models (2024)</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Multiple CNNs (DenseNet, EfficientNet, InceptionResNet) combined.</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Limitation: Expensive computation, not mobile-friendly.</a:t>
            </a:r>
            <a:endParaRPr lang="en-US" altLang="en-GB" sz="1500">
              <a:latin typeface="Calibri" panose="020F0502020204030204" charset="0"/>
              <a:cs typeface="Calibri" panose="020F0502020204030204" charset="0"/>
            </a:endParaRPr>
          </a:p>
          <a:p>
            <a:pPr marL="76200" indent="0" algn="l">
              <a:buNone/>
            </a:pPr>
            <a:r>
              <a:rPr lang="en-US" altLang="en-GB" sz="1500">
                <a:latin typeface="Calibri" panose="020F0502020204030204" charset="0"/>
                <a:cs typeface="Calibri" panose="020F0502020204030204" charset="0"/>
              </a:rPr>
              <a:t>9) Explainable AI (2025)</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Grad-CAM &amp; reliability metrics improve trust.</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Limitation: Explanations may confuse non-experts.</a:t>
            </a:r>
            <a:endParaRPr lang="en-US" altLang="en-GB" sz="1500">
              <a:latin typeface="Calibri" panose="020F0502020204030204" charset="0"/>
              <a:cs typeface="Calibri" panose="020F0502020204030204" charset="0"/>
            </a:endParaRPr>
          </a:p>
          <a:p>
            <a:pPr marL="76200" indent="0" algn="l">
              <a:buNone/>
            </a:pPr>
            <a:r>
              <a:rPr lang="en-US" altLang="en-GB" sz="1500">
                <a:latin typeface="Calibri" panose="020F0502020204030204" charset="0"/>
                <a:cs typeface="Calibri" panose="020F0502020204030204" charset="0"/>
              </a:rPr>
              <a:t>10) Knowledge-Based Systems (2021–2024)</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Ontologies + rule-based reasoning for treatment.</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Limitation: Hard to localize &amp; maintain knowledge base.</a:t>
            </a:r>
            <a:endParaRPr lang="en-US" altLang="en-GB" sz="1500">
              <a:latin typeface="Calibri" panose="020F0502020204030204" charset="0"/>
              <a:cs typeface="Calibri" panose="020F0502020204030204" charset="0"/>
            </a:endParaRPr>
          </a:p>
          <a:p>
            <a:pPr marL="76200" indent="0" algn="l">
              <a:buNone/>
            </a:pPr>
            <a:r>
              <a:rPr lang="en-US" altLang="en-GB" sz="1500">
                <a:latin typeface="Calibri" panose="020F0502020204030204" charset="0"/>
                <a:cs typeface="Calibri" panose="020F0502020204030204" charset="0"/>
              </a:rPr>
              <a:t>11) PlantCareNet (2025) – Integrated Platform</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Combines detection, severity, and treatment recommendation.</a:t>
            </a:r>
            <a:endParaRPr lang="en-US" altLang="en-GB" sz="1500">
              <a:latin typeface="Calibri" panose="020F0502020204030204" charset="0"/>
              <a:cs typeface="Calibri" panose="020F0502020204030204" charset="0"/>
            </a:endParaRPr>
          </a:p>
          <a:p>
            <a:pPr algn="l"/>
            <a:r>
              <a:rPr lang="en-US" altLang="en-GB" sz="1500">
                <a:latin typeface="Calibri" panose="020F0502020204030204" charset="0"/>
                <a:cs typeface="Calibri" panose="020F0502020204030204" charset="0"/>
              </a:rPr>
              <a:t>Limitation: Pilot stage; needs field validation.</a:t>
            </a:r>
            <a:endParaRPr lang="en-US" altLang="en-GB" sz="1500">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effectLst/>
                <a:latin typeface="Cambria" panose="02040503050406030204" pitchFamily="18" charset="0"/>
                <a:cs typeface="Cambria" panose="02040503050406030204" pitchFamily="18" charset="0"/>
              </a:rPr>
              <a:t>Objectives</a:t>
            </a:r>
            <a:endParaRPr lang="en-US" altLang="en-GB">
              <a:effectLst/>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p:txBody>
          <a:bodyPr>
            <a:normAutofit fontScale="80000"/>
          </a:bodyPr>
          <a:p>
            <a:pPr marL="76200" indent="0">
              <a:buNone/>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Develop an AI-based model (CNN/EfficientNet) for plant disease detection from leaf images.</a:t>
            </a:r>
            <a:endParaRPr lang="en-US" altLang="en-GB">
              <a:latin typeface="Cambria" panose="02040503050406030204" pitchFamily="18" charset="0"/>
              <a:cs typeface="Cambria" panose="02040503050406030204" pitchFamily="18" charset="0"/>
            </a:endParaRPr>
          </a:p>
          <a:p>
            <a:pPr marL="533400" indent="-457200">
              <a:buAutoNum type="arabicPeriod"/>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Enhance robustness using transfer learning &amp; domain adaptation techniques.</a:t>
            </a:r>
            <a:endParaRPr lang="en-US" altLang="en-GB">
              <a:latin typeface="Cambria" panose="02040503050406030204" pitchFamily="18" charset="0"/>
              <a:cs typeface="Cambria" panose="02040503050406030204" pitchFamily="18" charset="0"/>
            </a:endParaRPr>
          </a:p>
          <a:p>
            <a:pPr marL="533400" indent="-457200">
              <a:buAutoNum type="arabicPeriod"/>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Implement severity estimation (e.g., % infection per leaf via segmentation).</a:t>
            </a:r>
            <a:endParaRPr lang="en-US" altLang="en-GB">
              <a:latin typeface="Cambria" panose="02040503050406030204" pitchFamily="18" charset="0"/>
              <a:cs typeface="Cambria" panose="02040503050406030204" pitchFamily="18" charset="0"/>
            </a:endParaRPr>
          </a:p>
          <a:p>
            <a:pPr marL="533400" indent="-457200">
              <a:buAutoNum type="arabicPeriod"/>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Provide treatment recommendations through a JSON/knowledge base (future: API integration).</a:t>
            </a:r>
            <a:endParaRPr lang="en-US" altLang="en-GB">
              <a:latin typeface="Cambria" panose="02040503050406030204" pitchFamily="18" charset="0"/>
              <a:cs typeface="Cambria" panose="02040503050406030204" pitchFamily="18" charset="0"/>
            </a:endParaRPr>
          </a:p>
          <a:p>
            <a:pPr marL="533400" indent="-457200">
              <a:buAutoNum type="arabicPeriod"/>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Deploy the system on mobile/web for farmer accessibility.</a:t>
            </a:r>
            <a:endParaRPr lang="en-US" altLang="en-GB">
              <a:latin typeface="Cambria" panose="02040503050406030204" pitchFamily="18" charset="0"/>
              <a:cs typeface="Cambria" panose="02040503050406030204" pitchFamily="18" charset="0"/>
            </a:endParaRPr>
          </a:p>
          <a:p>
            <a:pPr marL="533400" indent="-457200">
              <a:buAutoNum type="arabicPeriod"/>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Ensure scalability by designing lightweight models for edge/mobile devices.</a:t>
            </a:r>
            <a:endParaRPr lang="en-US" altLang="en-GB">
              <a:latin typeface="Cambria" panose="02040503050406030204" pitchFamily="18" charset="0"/>
              <a:cs typeface="Cambria" panose="02040503050406030204" pitchFamily="18" charset="0"/>
            </a:endParaRPr>
          </a:p>
          <a:p>
            <a:pPr marL="533400" indent="-457200">
              <a:buAutoNum type="arabicPeriod"/>
            </a:pPr>
            <a:endParaRPr lang="en-US" altLang="en-GB">
              <a:latin typeface="Cambria" panose="02040503050406030204" pitchFamily="18" charset="0"/>
              <a:cs typeface="Cambria" panose="02040503050406030204" pitchFamily="18" charset="0"/>
            </a:endParaRPr>
          </a:p>
          <a:p>
            <a:pPr marL="533400" indent="-457200">
              <a:buAutoNum type="arabicPeriod"/>
            </a:pPr>
            <a:r>
              <a:rPr lang="en-US" altLang="en-GB">
                <a:latin typeface="Cambria" panose="02040503050406030204" pitchFamily="18" charset="0"/>
                <a:cs typeface="Cambria" panose="02040503050406030204" pitchFamily="18" charset="0"/>
              </a:rPr>
              <a:t>Increase trust with Explainable AI (Grad-CAM visualizations).</a:t>
            </a:r>
            <a:endParaRPr lang="en-US" altLang="en-GB">
              <a:latin typeface="Cambria" panose="02040503050406030204" pitchFamily="18" charset="0"/>
              <a:cs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latin typeface="Cambria" panose="02040503050406030204" pitchFamily="18" charset="0"/>
                <a:cs typeface="Cambria" panose="02040503050406030204" pitchFamily="18" charset="0"/>
                <a:sym typeface="+mn-ea"/>
              </a:rPr>
              <a:t>Existing Methods and Drawbacks</a:t>
            </a:r>
            <a:endParaRPr lang="en-US" altLang="en-GB">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p:txBody>
          <a:bodyPr>
            <a:normAutofit fontScale="80000"/>
          </a:bodyPr>
          <a:p>
            <a:pPr marL="76200" indent="0">
              <a:buNone/>
            </a:pPr>
            <a:endParaRPr lang="en-US" altLang="en-GB">
              <a:latin typeface="Cambria" panose="02040503050406030204" pitchFamily="18" charset="0"/>
              <a:cs typeface="Cambria" panose="02040503050406030204" pitchFamily="18" charset="0"/>
            </a:endParaRPr>
          </a:p>
          <a:p>
            <a:pPr>
              <a:buFont typeface="Wingdings" panose="05000000000000000000" charset="0"/>
              <a:buChar char="Ø"/>
            </a:pPr>
            <a:r>
              <a:rPr lang="en-US" altLang="en-GB">
                <a:latin typeface="Cambria" panose="02040503050406030204" pitchFamily="18" charset="0"/>
                <a:cs typeface="Cambria" panose="02040503050406030204" pitchFamily="18" charset="0"/>
              </a:rPr>
              <a:t>Manual Inspection</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Needs experts, time-consuming, prone to errors</a:t>
            </a:r>
            <a:endParaRPr lang="en-US" altLang="en-GB">
              <a:latin typeface="Cambria" panose="02040503050406030204" pitchFamily="18" charset="0"/>
              <a:cs typeface="Cambria" panose="02040503050406030204" pitchFamily="18" charset="0"/>
            </a:endParaRPr>
          </a:p>
          <a:p>
            <a:pPr>
              <a:buFont typeface="Wingdings" panose="05000000000000000000" charset="0"/>
              <a:buChar char="Ø"/>
            </a:pPr>
            <a:r>
              <a:rPr lang="en-US" altLang="en-GB">
                <a:latin typeface="Cambria" panose="02040503050406030204" pitchFamily="18" charset="0"/>
                <a:cs typeface="Cambria" panose="02040503050406030204" pitchFamily="18" charset="0"/>
              </a:rPr>
              <a:t>CNN-based Models (Mohanty, Ferentinos, etc.)</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Good accuracy in lab datasets.</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Drawback: Poor generalization in field conditions.</a:t>
            </a:r>
            <a:endParaRPr lang="en-US" altLang="en-GB">
              <a:latin typeface="Cambria" panose="02040503050406030204" pitchFamily="18" charset="0"/>
              <a:cs typeface="Cambria" panose="02040503050406030204" pitchFamily="18" charset="0"/>
            </a:endParaRPr>
          </a:p>
          <a:p>
            <a:pPr>
              <a:buFont typeface="Wingdings" panose="05000000000000000000" charset="0"/>
              <a:buChar char="Ø"/>
            </a:pPr>
            <a:r>
              <a:rPr lang="en-US" altLang="en-GB">
                <a:latin typeface="Cambria" panose="02040503050406030204" pitchFamily="18" charset="0"/>
                <a:cs typeface="Cambria" panose="02040503050406030204" pitchFamily="18" charset="0"/>
              </a:rPr>
              <a:t>Our Current System </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Model detects disease (using trained CNN).</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Provides treatment suggestions from a JSON file.</a:t>
            </a:r>
            <a:endParaRPr lang="en-US" altLang="en-GB">
              <a:latin typeface="Cambria" panose="02040503050406030204" pitchFamily="18" charset="0"/>
              <a:cs typeface="Cambria" panose="02040503050406030204" pitchFamily="18" charset="0"/>
            </a:endParaRPr>
          </a:p>
          <a:p>
            <a:pPr>
              <a:buFont typeface="Wingdings" panose="05000000000000000000" charset="0"/>
              <a:buChar char="Ø"/>
            </a:pPr>
            <a:r>
              <a:rPr lang="en-US" altLang="en-GB">
                <a:latin typeface="Cambria" panose="02040503050406030204" pitchFamily="18" charset="0"/>
                <a:cs typeface="Cambria" panose="02040503050406030204" pitchFamily="18" charset="0"/>
              </a:rPr>
              <a:t>Drawbacks:</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Suggestions are static (limited to JSON entries).</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No severity estimation yet.</a:t>
            </a:r>
            <a:endParaRPr lang="en-US" altLang="en-GB">
              <a:latin typeface="Cambria" panose="02040503050406030204" pitchFamily="18" charset="0"/>
              <a:cs typeface="Cambria" panose="02040503050406030204" pitchFamily="18" charset="0"/>
            </a:endParaRPr>
          </a:p>
          <a:p>
            <a:pPr marL="76200" indent="0">
              <a:buNone/>
            </a:pPr>
            <a:r>
              <a:rPr lang="en-IN" altLang="en-US">
                <a:latin typeface="Cambria" panose="02040503050406030204" pitchFamily="18" charset="0"/>
                <a:cs typeface="Cambria" panose="02040503050406030204" pitchFamily="18" charset="0"/>
              </a:rPr>
              <a:t>         </a:t>
            </a:r>
            <a:r>
              <a:rPr lang="en-US" altLang="en-GB">
                <a:latin typeface="Cambria" panose="02040503050406030204" pitchFamily="18" charset="0"/>
                <a:cs typeface="Cambria" panose="02040503050406030204" pitchFamily="18" charset="0"/>
              </a:rPr>
              <a:t>Prediction takes ~2 mins (slow response).</a:t>
            </a:r>
            <a:endParaRPr lang="en-US" altLang="en-GB">
              <a:latin typeface="Cambria" panose="02040503050406030204" pitchFamily="18" charset="0"/>
              <a:cs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tLang="en-GB" dirty="0">
                <a:latin typeface="Cambria" panose="02040503050406030204" pitchFamily="18" charset="0"/>
                <a:ea typeface="Cambria" panose="02040503050406030204" pitchFamily="18" charset="0"/>
              </a:rPr>
              <a:t>Proposed Method &amp; Feasibility Study</a:t>
            </a:r>
            <a:endParaRPr lang="en-US" altLang="en-GB"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868680"/>
            <a:ext cx="10668000" cy="4953000"/>
          </a:xfrm>
          <a:prstGeom prst="rect">
            <a:avLst/>
          </a:prstGeom>
          <a:noFill/>
          <a:ln>
            <a:noFill/>
          </a:ln>
        </p:spPr>
        <p:txBody>
          <a:bodyPr spcFirstLastPara="1" wrap="square" lIns="91425" tIns="45700" rIns="91425" bIns="45700" anchor="t" anchorCtr="0">
            <a:normAutofit fontScale="25000"/>
          </a:bodyPr>
          <a:lstStyle/>
          <a:p>
            <a:pPr marL="342900" lvl="0" indent="-190500" algn="just" rtl="0">
              <a:lnSpc>
                <a:spcPct val="200000"/>
              </a:lnSpc>
              <a:spcBef>
                <a:spcPts val="0"/>
              </a:spcBef>
              <a:spcAft>
                <a:spcPts val="0"/>
              </a:spcAft>
              <a:buClr>
                <a:schemeClr val="dk1"/>
              </a:buClr>
              <a:buSzPct val="100000"/>
              <a:buNone/>
            </a:pPr>
            <a:r>
              <a:rPr lang="en-US" altLang="en-GB" sz="4800" b="1" dirty="0">
                <a:latin typeface="Cambria" panose="02040503050406030204" pitchFamily="18" charset="0"/>
                <a:ea typeface="Cambria" panose="02040503050406030204" pitchFamily="18" charset="0"/>
              </a:rPr>
              <a:t>Proposed Method (Current Stage):</a:t>
            </a:r>
            <a:endParaRPr lang="en-US" altLang="en-GB" sz="4800" b="1"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Font typeface="Arial" panose="020B0604020202020204" pitchFamily="34" charset="0"/>
              <a:buChar char="•"/>
            </a:pPr>
            <a:r>
              <a:rPr lang="en-US" altLang="en-GB" sz="4000" dirty="0">
                <a:latin typeface="Cambria" panose="02040503050406030204" pitchFamily="18" charset="0"/>
                <a:ea typeface="Cambria" panose="02040503050406030204" pitchFamily="18" charset="0"/>
              </a:rPr>
              <a:t>Trained CNN model (plant_disease_model.h5) for disease detection.</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Font typeface="Arial" panose="020B0604020202020204" pitchFamily="34" charset="0"/>
              <a:buChar char="•"/>
            </a:pPr>
            <a:r>
              <a:rPr lang="en-US" altLang="en-GB" sz="4000" dirty="0">
                <a:latin typeface="Cambria" panose="02040503050406030204" pitchFamily="18" charset="0"/>
                <a:ea typeface="Cambria" panose="02040503050406030204" pitchFamily="18" charset="0"/>
              </a:rPr>
              <a:t>Frontend: React Native app for image upload.</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Font typeface="Arial" panose="020B0604020202020204" pitchFamily="34" charset="0"/>
              <a:buChar char="•"/>
            </a:pPr>
            <a:r>
              <a:rPr lang="en-US" altLang="en-GB" sz="4000" dirty="0">
                <a:latin typeface="Cambria" panose="02040503050406030204" pitchFamily="18" charset="0"/>
                <a:ea typeface="Cambria" panose="02040503050406030204" pitchFamily="18" charset="0"/>
              </a:rPr>
              <a:t>Backend: FastAPI (hosted on Render, connected via Git).</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Font typeface="Arial" panose="020B0604020202020204" pitchFamily="34" charset="0"/>
              <a:buChar char="•"/>
            </a:pPr>
            <a:r>
              <a:rPr lang="en-US" altLang="en-GB" sz="4000" dirty="0">
                <a:latin typeface="Cambria" panose="02040503050406030204" pitchFamily="18" charset="0"/>
                <a:ea typeface="Cambria" panose="02040503050406030204" pitchFamily="18" charset="0"/>
              </a:rPr>
              <a:t>Output: Disease name + treatment suggestion (from JSON file).</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r>
              <a:rPr lang="en-US" altLang="en-GB" sz="4800" b="1" dirty="0">
                <a:latin typeface="Cambria" panose="02040503050406030204" pitchFamily="18" charset="0"/>
                <a:ea typeface="Cambria" panose="02040503050406030204" pitchFamily="18" charset="0"/>
              </a:rPr>
              <a:t>Future Enhancements:</a:t>
            </a:r>
            <a:endParaRPr lang="en-US" altLang="en-GB" sz="4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Replace static JSON with API-based knowledge base for prescriptions.</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Add severity estimation (leaf segmentation, % infection).</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Optimize response time (reduce ~2 min latency).</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Integrate Explainable AI (Grad-CAM) for trust.</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Deploy lightweight models for mobile/edge devices.</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r>
              <a:rPr lang="en-US" altLang="en-GB" sz="4800" b="1" dirty="0">
                <a:latin typeface="Cambria" panose="02040503050406030204" pitchFamily="18" charset="0"/>
                <a:ea typeface="Cambria" panose="02040503050406030204" pitchFamily="18" charset="0"/>
              </a:rPr>
              <a:t>Feasibility:</a:t>
            </a:r>
            <a:endParaRPr lang="en-US" altLang="en-GB" sz="4800" b="1"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Technology: TensorFlow, FastAPI, React Native (open-source, cost-effective).</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Hardware: Android smartphone + standard server.</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Data: PlantVillage dataset + augmentation for field scenarios.</a:t>
            </a:r>
            <a:endParaRPr lang="en-US" altLang="en-GB" sz="4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pPr>
            <a:r>
              <a:rPr lang="en-US" altLang="en-GB" sz="4000" dirty="0">
                <a:latin typeface="Cambria" panose="02040503050406030204" pitchFamily="18" charset="0"/>
                <a:ea typeface="Cambria" panose="02040503050406030204" pitchFamily="18" charset="0"/>
              </a:rPr>
              <a:t>Deployment: Cloud-based (Render) </a:t>
            </a:r>
            <a:r>
              <a:rPr lang="en-US" altLang="en-US" sz="4000" dirty="0">
                <a:latin typeface="Cambria" panose="02040503050406030204" pitchFamily="18" charset="0"/>
                <a:ea typeface="Cambria" panose="02040503050406030204" pitchFamily="18" charset="0"/>
              </a:rPr>
              <a:t>→</a:t>
            </a:r>
            <a:r>
              <a:rPr lang="en-US" altLang="en-GB" sz="4000" dirty="0">
                <a:latin typeface="Cambria" panose="02040503050406030204" pitchFamily="18" charset="0"/>
                <a:ea typeface="Cambria" panose="02040503050406030204" pitchFamily="18" charset="0"/>
              </a:rPr>
              <a:t> scalable and accessible to farmers</a:t>
            </a:r>
            <a:r>
              <a:rPr lang="en-US" altLang="en-GB" sz="3600" dirty="0">
                <a:latin typeface="Cambria" panose="02040503050406030204" pitchFamily="18" charset="0"/>
                <a:ea typeface="Cambria" panose="02040503050406030204" pitchFamily="18" charset="0"/>
              </a:rPr>
              <a:t>.</a:t>
            </a:r>
            <a:endParaRPr lang="en-US" altLang="en-GB" sz="36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955"/>
            <a:ext cx="10668000" cy="48768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tLang="en-GB" dirty="0">
                <a:latin typeface="Cambria" panose="02040503050406030204" pitchFamily="18" charset="0"/>
                <a:ea typeface="Cambria" panose="02040503050406030204" pitchFamily="18" charset="0"/>
                <a:sym typeface="+mn-ea"/>
              </a:rPr>
              <a:t>Architecture Diagram</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2242820" y="942340"/>
            <a:ext cx="7926070" cy="56584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latin typeface="Cambria" panose="02040503050406030204" pitchFamily="18" charset="0"/>
                <a:cs typeface="Cambria" panose="02040503050406030204" pitchFamily="18" charset="0"/>
                <a:sym typeface="+mn-ea"/>
              </a:rPr>
              <a:t>Modules</a:t>
            </a:r>
            <a:endParaRPr lang="en-US" altLang="en-GB">
              <a:latin typeface="Cambria" panose="02040503050406030204" pitchFamily="18" charset="0"/>
              <a:cs typeface="Cambria" panose="02040503050406030204" pitchFamily="18" charset="0"/>
            </a:endParaRPr>
          </a:p>
        </p:txBody>
      </p:sp>
      <p:sp>
        <p:nvSpPr>
          <p:cNvPr id="3" name="Text Placeholder 2"/>
          <p:cNvSpPr>
            <a:spLocks noGrp="1"/>
          </p:cNvSpPr>
          <p:nvPr>
            <p:ph type="body" idx="1"/>
          </p:nvPr>
        </p:nvSpPr>
        <p:spPr>
          <a:xfrm>
            <a:off x="812800" y="614681"/>
            <a:ext cx="10668000" cy="4953000"/>
          </a:xfrm>
        </p:spPr>
        <p:txBody>
          <a:bodyPr>
            <a:noAutofit/>
          </a:bodyPr>
          <a:p>
            <a:pPr marL="76200" indent="0">
              <a:buNone/>
            </a:pP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pPr marL="76200" indent="0">
              <a:buNone/>
            </a:pPr>
            <a:r>
              <a:rPr lang="en-US" altLang="en-GB" sz="1000">
                <a:latin typeface="Cambria" panose="02040503050406030204" pitchFamily="18" charset="0"/>
                <a:cs typeface="Cambria" panose="02040503050406030204" pitchFamily="18" charset="0"/>
              </a:rPr>
              <a:t>1. Image Input &amp; Preprocessing</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Farmer uploads crop/leaf image via React Native app.</a:t>
            </a:r>
            <a:endParaRPr lang="en-US" altLang="en-GB" sz="1000">
              <a:latin typeface="Cambria" panose="02040503050406030204" pitchFamily="18" charset="0"/>
              <a:cs typeface="Cambria" panose="02040503050406030204" pitchFamily="18" charset="0"/>
            </a:endParaRPr>
          </a:p>
          <a:p>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Preprocessing (resize, normalization).</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pPr marL="76200" indent="0">
              <a:buNone/>
            </a:pPr>
            <a:r>
              <a:rPr lang="en-US" altLang="en-GB" sz="1000">
                <a:latin typeface="Cambria" panose="02040503050406030204" pitchFamily="18" charset="0"/>
                <a:cs typeface="Cambria" panose="02040503050406030204" pitchFamily="18" charset="0"/>
              </a:rPr>
              <a:t>2. Disease Detection</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CNN model (plant_disease_model.h5) classifies the disease.</a:t>
            </a:r>
            <a:endParaRPr lang="en-US" altLang="en-GB" sz="1000">
              <a:latin typeface="Cambria" panose="02040503050406030204" pitchFamily="18" charset="0"/>
              <a:cs typeface="Cambria" panose="02040503050406030204" pitchFamily="18" charset="0"/>
            </a:endParaRPr>
          </a:p>
          <a:p>
            <a:endParaRPr lang="en-US" altLang="en-GB" sz="1000">
              <a:latin typeface="Cambria" panose="02040503050406030204" pitchFamily="18" charset="0"/>
              <a:cs typeface="Cambria" panose="02040503050406030204" pitchFamily="18" charset="0"/>
            </a:endParaRPr>
          </a:p>
          <a:p>
            <a:pPr marL="76200" indent="0">
              <a:buNone/>
            </a:pPr>
            <a:r>
              <a:rPr lang="en-US" altLang="en-GB" sz="1000">
                <a:latin typeface="Cambria" panose="02040503050406030204" pitchFamily="18" charset="0"/>
                <a:cs typeface="Cambria" panose="02040503050406030204" pitchFamily="18" charset="0"/>
              </a:rPr>
              <a:t>3. Suggestion System</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Current: Treatment suggestions fetched from JSON file.</a:t>
            </a:r>
            <a:endParaRPr lang="en-US" altLang="en-GB" sz="1000">
              <a:latin typeface="Cambria" panose="02040503050406030204" pitchFamily="18" charset="0"/>
              <a:cs typeface="Cambria" panose="02040503050406030204" pitchFamily="18" charset="0"/>
            </a:endParaRPr>
          </a:p>
          <a:p>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Future: API/knowledge base integration.</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pPr marL="76200" indent="0">
              <a:buNone/>
            </a:pPr>
            <a:r>
              <a:rPr lang="en-US" altLang="en-GB" sz="1000">
                <a:latin typeface="Cambria" panose="02040503050406030204" pitchFamily="18" charset="0"/>
                <a:cs typeface="Cambria" panose="02040503050406030204" pitchFamily="18" charset="0"/>
              </a:rPr>
              <a:t>4. Backend API</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FastAPI connects frontend with the model &amp; suggestion system.</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pPr marL="76200" indent="0">
              <a:buNone/>
            </a:pPr>
            <a:r>
              <a:rPr lang="en-US" altLang="en-GB" sz="1000">
                <a:latin typeface="Cambria" panose="02040503050406030204" pitchFamily="18" charset="0"/>
                <a:cs typeface="Cambria" panose="02040503050406030204" pitchFamily="18" charset="0"/>
              </a:rPr>
              <a:t>5. Frontend (Mobile App)</a:t>
            </a:r>
            <a:endParaRPr lang="en-US" altLang="en-GB" sz="1000">
              <a:latin typeface="Cambria" panose="02040503050406030204" pitchFamily="18" charset="0"/>
              <a:cs typeface="Cambria" panose="02040503050406030204" pitchFamily="18" charset="0"/>
            </a:endParaRPr>
          </a:p>
          <a:p>
            <a:pPr marL="76200" indent="0">
              <a:buNone/>
            </a:pPr>
            <a:endParaRPr lang="en-US" altLang="en-GB" sz="1000">
              <a:latin typeface="Cambria" panose="02040503050406030204" pitchFamily="18" charset="0"/>
              <a:cs typeface="Cambria" panose="02040503050406030204" pitchFamily="18" charset="0"/>
            </a:endParaRPr>
          </a:p>
          <a:p>
            <a:r>
              <a:rPr lang="en-US" altLang="en-GB" sz="1000">
                <a:latin typeface="Cambria" panose="02040503050406030204" pitchFamily="18" charset="0"/>
                <a:cs typeface="Cambria" panose="02040503050406030204" pitchFamily="18" charset="0"/>
              </a:rPr>
              <a:t>React Native app for image upload and result display.</a:t>
            </a:r>
            <a:endParaRPr lang="en-US" altLang="en-GB" sz="1000">
              <a:latin typeface="Cambria" panose="02040503050406030204" pitchFamily="18" charset="0"/>
              <a:cs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tLang="en-GB" dirty="0">
                <a:latin typeface="Cambria" panose="02040503050406030204" pitchFamily="18" charset="0"/>
                <a:ea typeface="Cambria" panose="02040503050406030204" pitchFamily="18" charset="0"/>
                <a:sym typeface="+mn-ea"/>
              </a:rPr>
              <a:t>Hardware and Software Details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838835"/>
            <a:ext cx="11379200" cy="5531485"/>
          </a:xfrm>
          <a:prstGeom prst="rect">
            <a:avLst/>
          </a:prstGeom>
          <a:noFill/>
          <a:ln>
            <a:noFill/>
          </a:ln>
        </p:spPr>
        <p:txBody>
          <a:bodyPr spcFirstLastPara="1" wrap="square" lIns="91425" tIns="45700" rIns="91425" bIns="45700" anchor="t" anchorCtr="0">
            <a:normAutofit fontScale="35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Font typeface="Arial" panose="020B0604020202020204"/>
              <a:buNone/>
            </a:pPr>
            <a:endParaRPr lang="en-US" altLang="en-GB"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r>
              <a:rPr lang="en-US" altLang="en-GB" sz="4570" b="1" dirty="0">
                <a:latin typeface="Cambria" panose="02040503050406030204" pitchFamily="18" charset="0"/>
                <a:ea typeface="Cambria" panose="02040503050406030204" pitchFamily="18" charset="0"/>
              </a:rPr>
              <a:t>Hardware Requirements</a:t>
            </a:r>
            <a:endParaRPr lang="en-US" altLang="en-GB"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4000" dirty="0">
                <a:latin typeface="Cambria" panose="02040503050406030204" pitchFamily="18" charset="0"/>
                <a:ea typeface="Cambria" panose="02040503050406030204" pitchFamily="18" charset="0"/>
              </a:rPr>
              <a:t>Android Smartphone (image capture &amp; testing).</a:t>
            </a:r>
            <a:endParaRPr lang="en-US" altLang="en-GB" sz="40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4000" dirty="0">
                <a:latin typeface="Cambria" panose="02040503050406030204" pitchFamily="18" charset="0"/>
                <a:ea typeface="Cambria" panose="02040503050406030204" pitchFamily="18" charset="0"/>
              </a:rPr>
              <a:t>Laptop / Cloud Server (for model training &amp; API hosting).</a:t>
            </a:r>
            <a:endParaRPr lang="en-US" altLang="en-GB" sz="40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4000" dirty="0">
                <a:latin typeface="Cambria" panose="02040503050406030204" pitchFamily="18" charset="0"/>
                <a:ea typeface="Cambria" panose="02040503050406030204" pitchFamily="18" charset="0"/>
              </a:rPr>
              <a:t>Standard Phone Camera (sufficient for disease image capture).</a:t>
            </a:r>
            <a:endParaRPr lang="en-US" altLang="en-GB"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r>
              <a:rPr lang="en-US" altLang="en-GB" sz="4570" b="1" dirty="0">
                <a:latin typeface="Cambria" panose="02040503050406030204" pitchFamily="18" charset="0"/>
                <a:ea typeface="Cambria" panose="02040503050406030204" pitchFamily="18" charset="0"/>
              </a:rPr>
              <a:t>Software Requirements</a:t>
            </a:r>
            <a:endParaRPr lang="en-US" altLang="en-GB"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3430" dirty="0">
                <a:latin typeface="Cambria" panose="02040503050406030204" pitchFamily="18" charset="0"/>
                <a:ea typeface="Cambria" panose="02040503050406030204" pitchFamily="18" charset="0"/>
              </a:rPr>
              <a:t>Programming Languages: Python, JavaScript (React Native).</a:t>
            </a:r>
            <a:endParaRPr lang="en-US" altLang="en-GB" sz="343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3430" dirty="0">
                <a:latin typeface="Cambria" panose="02040503050406030204" pitchFamily="18" charset="0"/>
                <a:ea typeface="Cambria" panose="02040503050406030204" pitchFamily="18" charset="0"/>
              </a:rPr>
              <a:t>Libraries/Frameworks: TensorFlow/Keras, OpenCV, FastAPI.</a:t>
            </a:r>
            <a:endParaRPr lang="en-US" altLang="en-GB" sz="343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3430" dirty="0">
                <a:latin typeface="Cambria" panose="02040503050406030204" pitchFamily="18" charset="0"/>
                <a:ea typeface="Cambria" panose="02040503050406030204" pitchFamily="18" charset="0"/>
              </a:rPr>
              <a:t>Frontend: React Native (mobile app).</a:t>
            </a:r>
            <a:endParaRPr lang="en-US" altLang="en-GB" sz="343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3430" dirty="0">
                <a:latin typeface="Cambria" panose="02040503050406030204" pitchFamily="18" charset="0"/>
                <a:ea typeface="Cambria" panose="02040503050406030204" pitchFamily="18" charset="0"/>
              </a:rPr>
              <a:t>Backend: FastAPI (REST API).</a:t>
            </a:r>
            <a:endParaRPr lang="en-US" altLang="en-GB" sz="343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pPr>
            <a:r>
              <a:rPr lang="en-US" altLang="en-GB" sz="3430" dirty="0">
                <a:latin typeface="Cambria" panose="02040503050406030204" pitchFamily="18" charset="0"/>
                <a:ea typeface="Cambria" panose="02040503050406030204" pitchFamily="18" charset="0"/>
              </a:rPr>
              <a:t>Deployment Tools: GitHub, Render (cloud hosting).</a:t>
            </a:r>
            <a:endParaRPr lang="en-US" altLang="en-GB" sz="343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r>
              <a:rPr lang="en-US" altLang="en-GB" sz="4570" b="1" dirty="0">
                <a:latin typeface="Cambria" panose="02040503050406030204" pitchFamily="18" charset="0"/>
                <a:ea typeface="Cambria" panose="02040503050406030204" pitchFamily="18" charset="0"/>
              </a:rPr>
              <a:t>Others</a:t>
            </a:r>
            <a:r>
              <a:rPr lang="en-US" altLang="en-GB" dirty="0">
                <a:latin typeface="Cambria" panose="02040503050406030204" pitchFamily="18" charset="0"/>
                <a:ea typeface="Cambria" panose="02040503050406030204" pitchFamily="18" charset="0"/>
              </a:rPr>
              <a:t>: </a:t>
            </a:r>
            <a:r>
              <a:rPr lang="en-US" altLang="en-GB" sz="3430" dirty="0">
                <a:latin typeface="Cambria" panose="02040503050406030204" pitchFamily="18" charset="0"/>
                <a:ea typeface="Cambria" panose="02040503050406030204" pitchFamily="18" charset="0"/>
              </a:rPr>
              <a:t>Google Colab (model training), JSON (suggestion storage).</a:t>
            </a:r>
            <a:endParaRPr lang="en-US" altLang="en-GB" sz="343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p:cNvGraphicFramePr/>
          <p:nvPr>
            <p:custDataLst>
              <p:tags r:id="rId1"/>
            </p:custDataLst>
          </p:nvPr>
        </p:nvGraphicFramePr>
        <p:xfrm>
          <a:off x="810895" y="1044575"/>
          <a:ext cx="10739120" cy="4599940"/>
        </p:xfrm>
        <a:graphic>
          <a:graphicData uri="http://schemas.openxmlformats.org/drawingml/2006/table">
            <a:tbl>
              <a:tblPr/>
              <a:tblGrid>
                <a:gridCol w="1342390"/>
                <a:gridCol w="1342390"/>
                <a:gridCol w="1342390"/>
                <a:gridCol w="1342390"/>
                <a:gridCol w="1342390"/>
                <a:gridCol w="1342390"/>
                <a:gridCol w="1342390"/>
                <a:gridCol w="1342390"/>
              </a:tblGrid>
              <a:tr h="307340">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tc>
              </a:tr>
              <a:tr h="612775">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612775">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614045">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612775">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612775">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307340">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307340">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tc>
              </a:tr>
              <a:tr h="612775">
                <a:tc>
                  <a:txBody>
                    <a:bodyPr/>
                    <a:p>
                      <a:endParaRPr lang="en-US" altLang="zh-CN"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tc>
              </a:tr>
            </a:tbl>
          </a:graphicData>
        </a:graphic>
      </p:graphicFrame>
      <p:graphicFrame>
        <p:nvGraphicFramePr>
          <p:cNvPr id="4" name="Table 3"/>
          <p:cNvGraphicFramePr/>
          <p:nvPr>
            <p:custDataLst>
              <p:tags r:id="rId2"/>
            </p:custDataLst>
          </p:nvPr>
        </p:nvGraphicFramePr>
        <p:xfrm>
          <a:off x="810895" y="1043940"/>
          <a:ext cx="10743565" cy="4869180"/>
        </p:xfrm>
        <a:graphic>
          <a:graphicData uri="http://schemas.openxmlformats.org/drawingml/2006/table">
            <a:tbl>
              <a:tblPr firstRow="1" bandRow="1">
                <a:tableStyleId>{5C22544A-7EE6-4342-B048-85BDC9FD1C3A}</a:tableStyleId>
              </a:tblPr>
              <a:tblGrid>
                <a:gridCol w="1534795"/>
                <a:gridCol w="1534795"/>
                <a:gridCol w="1534795"/>
                <a:gridCol w="1534795"/>
                <a:gridCol w="1534795"/>
                <a:gridCol w="1534795"/>
                <a:gridCol w="1534795"/>
              </a:tblGrid>
              <a:tr h="422275">
                <a:tc>
                  <a:txBody>
                    <a:bodyPr/>
                    <a:p>
                      <a:r>
                        <a:rPr lang="en-US" altLang="zh-CN" sz="1100"/>
                        <a:t>Task</a:t>
                      </a:r>
                      <a:endParaRPr lang="en-US" altLang="zh-CN" sz="1100"/>
                    </a:p>
                  </a:txBody>
                  <a:tcPr marL="0" marR="0" marT="0" marB="0" anchor="ctr" anchorCtr="0"/>
                </a:tc>
                <a:tc>
                  <a:txBody>
                    <a:bodyPr/>
                    <a:p>
                      <a:r>
                        <a:rPr lang="en-US" altLang="zh-CN" sz="1100"/>
                        <a:t>Week 1–2</a:t>
                      </a:r>
                      <a:endParaRPr lang="en-US" altLang="zh-CN" sz="1100"/>
                    </a:p>
                  </a:txBody>
                  <a:tcPr marL="0" marR="0" marT="0" marB="0" anchor="ctr" anchorCtr="0"/>
                </a:tc>
                <a:tc>
                  <a:txBody>
                    <a:bodyPr/>
                    <a:p>
                      <a:r>
                        <a:rPr lang="en-US" altLang="zh-CN" sz="1100"/>
                        <a:t>Week 3–4</a:t>
                      </a:r>
                      <a:endParaRPr lang="en-US" altLang="zh-CN" sz="1100"/>
                    </a:p>
                  </a:txBody>
                  <a:tcPr marL="0" marR="0" marT="0" marB="0" anchor="ctr" anchorCtr="0"/>
                </a:tc>
                <a:tc>
                  <a:txBody>
                    <a:bodyPr/>
                    <a:p>
                      <a:r>
                        <a:rPr lang="en-US" altLang="zh-CN" sz="1100"/>
                        <a:t>Week 5–6</a:t>
                      </a:r>
                      <a:endParaRPr lang="en-US" altLang="zh-CN" sz="1100"/>
                    </a:p>
                  </a:txBody>
                  <a:tcPr marL="0" marR="0" marT="0" marB="0" anchor="ctr" anchorCtr="0"/>
                </a:tc>
                <a:tc>
                  <a:txBody>
                    <a:bodyPr/>
                    <a:p>
                      <a:r>
                        <a:rPr lang="en-US" altLang="zh-CN" sz="1100"/>
                        <a:t>Week 7–8</a:t>
                      </a:r>
                      <a:endParaRPr lang="en-US" altLang="zh-CN" sz="1100"/>
                    </a:p>
                  </a:txBody>
                  <a:tcPr marL="0" marR="0" marT="0" marB="0" anchor="ctr" anchorCtr="0"/>
                </a:tc>
                <a:tc>
                  <a:txBody>
                    <a:bodyPr/>
                    <a:p>
                      <a:r>
                        <a:rPr lang="en-US" altLang="zh-CN" sz="1100"/>
                        <a:t>Week 9–10</a:t>
                      </a:r>
                      <a:endParaRPr lang="en-US" altLang="zh-CN" sz="1100"/>
                    </a:p>
                  </a:txBody>
                  <a:tcPr marL="0" marR="0" marT="0" marB="0" anchor="ctr" anchorCtr="0"/>
                </a:tc>
                <a:tc>
                  <a:txBody>
                    <a:bodyPr/>
                    <a:p>
                      <a:r>
                        <a:rPr lang="en-US" altLang="zh-CN" sz="1100"/>
                        <a:t>Week 11–12</a:t>
                      </a:r>
                      <a:endParaRPr lang="en-US" altLang="zh-CN" sz="1100"/>
                    </a:p>
                  </a:txBody>
                  <a:tcPr marL="0" marR="0" marT="0" marB="0" anchor="ctr" anchorCtr="0"/>
                </a:tc>
              </a:tr>
              <a:tr h="422910">
                <a:tc>
                  <a:txBody>
                    <a:bodyPr/>
                    <a:p>
                      <a:r>
                        <a:rPr lang="en-US" altLang="zh-CN" sz="1100"/>
                        <a:t>Literature Review &amp; Problem Analysis</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r>
              <a:tr h="422910">
                <a:tc>
                  <a:txBody>
                    <a:bodyPr/>
                    <a:p>
                      <a:r>
                        <a:rPr lang="en-US" altLang="zh-CN" sz="1100"/>
                        <a:t>Dataset Collection &amp; Preprocessing</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r>
              <a:tr h="422910">
                <a:tc>
                  <a:txBody>
                    <a:bodyPr/>
                    <a:p>
                      <a:r>
                        <a:rPr lang="en-US" altLang="zh-CN" sz="1100"/>
                        <a:t>AI Model Training &amp; Evaluation</a:t>
                      </a:r>
                      <a:endParaRPr lang="en-US" altLang="zh-CN"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r>
              <a:tr h="422275">
                <a:tc>
                  <a:txBody>
                    <a:bodyPr/>
                    <a:p>
                      <a:r>
                        <a:rPr lang="en-US" altLang="zh-CN" sz="1100"/>
                        <a:t>Backend API Development</a:t>
                      </a:r>
                      <a:endParaRPr lang="en-US" altLang="zh-CN"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r>
              <a:tr h="422910">
                <a:tc>
                  <a:txBody>
                    <a:bodyPr/>
                    <a:p>
                      <a:r>
                        <a:rPr lang="en-US" altLang="zh-CN" sz="1100"/>
                        <a:t>Mobile App (React Native)</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r>
              <a:tr h="422275">
                <a:tc>
                  <a:txBody>
                    <a:bodyPr/>
                    <a:p>
                      <a:r>
                        <a:rPr lang="en-US" altLang="zh-CN" sz="1100"/>
                        <a:t>Integration (Model + API + App)</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r>
              <a:tr h="558165">
                <a:tc>
                  <a:txBody>
                    <a:bodyPr/>
                    <a:p>
                      <a:r>
                        <a:rPr lang="en-US" altLang="zh-CN" sz="1100"/>
                        <a:t>Performance Evaluation (Latency Testing)</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c>
                  <a:txBody>
                    <a:bodyPr/>
                    <a:p>
                      <a:endParaRPr sz="1100"/>
                    </a:p>
                  </a:txBody>
                  <a:tcPr marL="0" marR="0" marT="0" marB="0" anchor="ctr" anchorCtr="0"/>
                </a:tc>
              </a:tr>
              <a:tr h="930275">
                <a:tc>
                  <a:txBody>
                    <a:bodyPr/>
                    <a:p>
                      <a:r>
                        <a:rPr lang="en-US" altLang="zh-CN" sz="1100"/>
                        <a:t>Future Enhancements (Severity Estimation, Explainability, API)</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c>
                  <a:txBody>
                    <a:bodyPr/>
                    <a:p>
                      <a:r>
                        <a:rPr lang="en-US" altLang="zh-CN" sz="1100"/>
                        <a:t>████</a:t>
                      </a:r>
                      <a:endParaRPr lang="en-US" altLang="zh-CN" sz="1100"/>
                    </a:p>
                  </a:txBody>
                  <a:tcPr marL="0" marR="0" marT="0" marB="0" anchor="ctr" anchorCtr="0"/>
                </a:tc>
              </a:tr>
              <a:tr h="422275">
                <a:tc>
                  <a:txBody>
                    <a:bodyPr/>
                    <a:p>
                      <a:r>
                        <a:rPr lang="en-US" altLang="zh-CN" sz="1100"/>
                        <a:t>Final Deployment &amp; Documentation</a:t>
                      </a:r>
                      <a:endParaRPr lang="en-US" altLang="zh-CN"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endParaRPr sz="1100"/>
                    </a:p>
                  </a:txBody>
                  <a:tcPr marL="0" marR="0" marT="0" marB="0" anchor="ctr" anchorCtr="0"/>
                </a:tc>
                <a:tc>
                  <a:txBody>
                    <a:bodyPr/>
                    <a:p>
                      <a:r>
                        <a:rPr lang="en-US" altLang="zh-CN" sz="1100"/>
                        <a:t>████</a:t>
                      </a:r>
                      <a:endParaRPr lang="en-US" altLang="zh-CN" sz="1100"/>
                    </a:p>
                  </a:txBody>
                  <a:tcPr marL="0" marR="0" marT="0" marB="0" anchor="ctr" anchorCtr="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50000"/>
          </a:bodyPr>
          <a:lstStyle/>
          <a:p>
            <a:pPr marL="152400" indent="0">
              <a:spcBef>
                <a:spcPts val="0"/>
              </a:spcBef>
              <a:buNone/>
            </a:pPr>
            <a:r>
              <a:rPr lang="en-US" altLang="en-GB" dirty="0">
                <a:latin typeface="Cambria" panose="02040503050406030204" pitchFamily="18" charset="0"/>
                <a:ea typeface="Cambria" panose="02040503050406030204" pitchFamily="18" charset="0"/>
              </a:rPr>
              <a:t>[1] S. Mohanty, D. Hughes, and M. Salath</a:t>
            </a:r>
            <a:r>
              <a:rPr lang="en-US" altLang="en-US" dirty="0">
                <a:latin typeface="Cambria" panose="02040503050406030204" pitchFamily="18" charset="0"/>
                <a:ea typeface="Cambria" panose="02040503050406030204" pitchFamily="18" charset="0"/>
              </a:rPr>
              <a:t>é</a:t>
            </a:r>
            <a:r>
              <a:rPr lang="en-US" altLang="en-GB" dirty="0">
                <a:latin typeface="Cambria" panose="02040503050406030204" pitchFamily="18" charset="0"/>
                <a:ea typeface="Cambria" panose="02040503050406030204" pitchFamily="18" charset="0"/>
              </a:rPr>
              <a:t>, “Using deep learning for image-based plant disease detection,” Frontiers in Plant Science, vol. 7, p. 1419, Oct. 2016.</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[2] K. P. Ferentinos, “Deep learning models for plant disease detection and diagnosis,” Computers and Electronics in Agriculture, vol. 145, pp. 311–318, Feb. 2018.</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[3] M. A. Khan, et al., “Lightweight deep learning models for plant disease detection on mobile and edge devices,” IEEE Access, vol. 11, pp. 56012–56024, 2023.</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[4] W. Ding, et al., “Prescription recommendation for crop diseases using retrieval-based models,” Knowledge-Based Systems, vol. 260, p. 110136, 2023.</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[5] P. Bedi, et al., “PDSE-Lite: A lightweight model for plant disease severity estimation,” Computers and Electronics in Agriculture, vol. 216, p. 108362, 2024.</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[6] Z. Wu, et al., “Unsupervised domain adaptation for plant disease recognition in real field conditions,” IEEE Transactions on Artificial Intelligence, vol. 4, no. 5, pp. 789–802, 2023.</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[7] M. Tan and Q. Le, “EfficientNet: Rethinking model scaling for convolutional neural networks,” Proc. 36th ICML, 2019.</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[8] A. Kumar, B. Patel, and C. Zhang, “Ensemble deep learning models for plant disease classification,” Applied Soft Computing, vol. 135, p. 110026, 2024.</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[9] H. Alhammad, et al., “Explainable AI for plant disease classification using Grad-CAM,” IEEE Access, vol. 13, pp. 34567–34579, 2025.</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[10] L. Rodr</a:t>
            </a:r>
            <a:r>
              <a:rPr lang="en-US" altLang="en-US" dirty="0">
                <a:latin typeface="Cambria" panose="02040503050406030204" pitchFamily="18" charset="0"/>
                <a:ea typeface="Cambria" panose="02040503050406030204" pitchFamily="18" charset="0"/>
              </a:rPr>
              <a:t>í</a:t>
            </a:r>
            <a:r>
              <a:rPr lang="en-US" altLang="en-GB" dirty="0">
                <a:latin typeface="Cambria" panose="02040503050406030204" pitchFamily="18" charset="0"/>
                <a:ea typeface="Cambria" panose="02040503050406030204" pitchFamily="18" charset="0"/>
              </a:rPr>
              <a:t>guez-Garc</a:t>
            </a:r>
            <a:r>
              <a:rPr lang="en-US" altLang="en-US" dirty="0">
                <a:latin typeface="Cambria" panose="02040503050406030204" pitchFamily="18" charset="0"/>
                <a:ea typeface="Cambria" panose="02040503050406030204" pitchFamily="18" charset="0"/>
              </a:rPr>
              <a:t>í</a:t>
            </a:r>
            <a:r>
              <a:rPr lang="en-US" altLang="en-GB" dirty="0">
                <a:latin typeface="Cambria" panose="02040503050406030204" pitchFamily="18" charset="0"/>
                <a:ea typeface="Cambria" panose="02040503050406030204" pitchFamily="18" charset="0"/>
              </a:rPr>
              <a:t>a, et al., “Knowledge-based systems for crop pest and disease management,” Expert Systems with Applications, vol. 176, p. 114921, 2021.</a:t>
            </a:r>
            <a:endParaRPr lang="en-US" altLang="en-GB" dirty="0">
              <a:latin typeface="Cambria" panose="02040503050406030204" pitchFamily="18" charset="0"/>
              <a:ea typeface="Cambria" panose="02040503050406030204" pitchFamily="18" charset="0"/>
            </a:endParaRPr>
          </a:p>
          <a:p>
            <a:pPr marL="152400" indent="0">
              <a:spcBef>
                <a:spcPts val="0"/>
              </a:spcBef>
              <a:buNone/>
            </a:pPr>
            <a:endParaRPr lang="en-US" altLang="en-GB" dirty="0">
              <a:latin typeface="Cambria" panose="02040503050406030204" pitchFamily="18" charset="0"/>
              <a:ea typeface="Cambria" panose="02040503050406030204" pitchFamily="18" charset="0"/>
            </a:endParaRPr>
          </a:p>
          <a:p>
            <a:pPr marL="152400" indent="0">
              <a:spcBef>
                <a:spcPts val="0"/>
              </a:spcBef>
              <a:buNone/>
            </a:pPr>
            <a:r>
              <a:rPr lang="en-US" altLang="en-GB" dirty="0">
                <a:latin typeface="Cambria" panose="02040503050406030204" pitchFamily="18" charset="0"/>
                <a:ea typeface="Cambria" panose="02040503050406030204" pitchFamily="18" charset="0"/>
              </a:rPr>
              <a:t>[11] Y. Chen, et al., “PlantCareNet: An integrated platform for disease detection, severity estimation, and prescription recommendation,” Frontiers in AI in Agriculture, vol. 3, pp. 45–58, 2025.</a:t>
            </a:r>
            <a:endParaRPr lang="en-US" altLang="en-GB"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381*152"/>
  <p:tag name="TABLE_ENDDRAG_RECT" val="62*197*381*152"/>
</p:tagLst>
</file>

<file path=ppt/tags/tag2.xml><?xml version="1.0" encoding="utf-8"?>
<p:tagLst xmlns:p="http://schemas.openxmlformats.org/presentationml/2006/main">
  <p:tag name="TABLE_ENDDRAG_ORIGIN_RECT" val="845*362"/>
  <p:tag name="TABLE_ENDDRAG_RECT" val="63*82*845*362"/>
</p:tagLst>
</file>

<file path=ppt/tags/tag3.xml><?xml version="1.0" encoding="utf-8"?>
<p:tagLst xmlns:p="http://schemas.openxmlformats.org/presentationml/2006/main">
  <p:tag name="TABLE_ENDDRAG_ORIGIN_RECT" val="845*383"/>
  <p:tag name="TABLE_ENDDRAG_RECT" val="63*82*845*383"/>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9392</Words>
  <Application>WPS Presentation</Application>
  <PresentationFormat>Widescreen</PresentationFormat>
  <Paragraphs>298</Paragraphs>
  <Slides>15</Slides>
  <Notes>11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Arial</vt:lpstr>
      <vt:lpstr>Verdana</vt:lpstr>
      <vt:lpstr>Bookman Old Style</vt:lpstr>
      <vt:lpstr>Cambria</vt:lpstr>
      <vt:lpstr>Wingdings</vt:lpstr>
      <vt:lpstr>Calibri</vt:lpstr>
      <vt:lpstr>Microsoft YaHei</vt:lpstr>
      <vt:lpstr>Arial Unicode MS</vt:lpstr>
      <vt:lpstr>Bioinformatics</vt:lpstr>
      <vt:lpstr>PROJECT TITLE PSCS_282_AI-Driven Crop Disease Prediction and Management System</vt:lpstr>
      <vt:lpstr>Content</vt:lpstr>
      <vt:lpstr>Problem Statement Number: PSCS_282</vt:lpstr>
      <vt:lpstr>Abstract</vt:lpstr>
      <vt:lpstr>Literature Survey</vt:lpstr>
      <vt:lpstr>Literature Survey(contd...)</vt:lpstr>
      <vt:lpstr>Objectives</vt:lpstr>
      <vt:lpstr>Existing Methods and Drawbacks</vt:lpstr>
      <vt:lpstr>Proposed Method &amp; Feasibility Study</vt:lpstr>
      <vt:lpstr>Analysis of Problem Statement (contd...)</vt:lpstr>
      <vt:lpstr>Innovation or Novel Contributions</vt:lpstr>
      <vt:lpstr>Github Link</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Akash Mandagere</cp:lastModifiedBy>
  <cp:revision>49</cp:revision>
  <dcterms:created xsi:type="dcterms:W3CDTF">2025-08-17T15:01:00Z</dcterms:created>
  <dcterms:modified xsi:type="dcterms:W3CDTF">2025-09-09T06:26:40Z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1933CA36C6E145818B8D4489B887058A_13</vt:lpwstr>
  </property>
  <property fmtid="{D5CDD505-2E9C-101B-9397-08002B2CF9AE}" pid="3" name="KSOProductBuildVer">
    <vt:lpwstr>2057-12.2.0.22555</vt:lpwstr>
  </property>
</Properties>
</file>