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9" r:id="rId4"/>
    <p:sldId id="275" r:id="rId5"/>
    <p:sldId id="276" r:id="rId6"/>
    <p:sldId id="273" r:id="rId7"/>
    <p:sldId id="272" r:id="rId8"/>
    <p:sldId id="277" r:id="rId9"/>
    <p:sldId id="268" r:id="rId10"/>
    <p:sldId id="270" r:id="rId11"/>
    <p:sldId id="265" r:id="rId12"/>
    <p:sldId id="266" r:id="rId1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3" d="100"/>
          <a:sy n="113" d="100"/>
        </p:scale>
        <p:origin x="4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1050877" y="1322386"/>
            <a:ext cx="103632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 panose="020B0604030504040204"/>
              <a:buNone/>
              <a:defRPr>
                <a:solidFill>
                  <a:srgbClr val="17365D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2032000" y="3326641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None/>
              <a:defRPr sz="2000" b="1">
                <a:solidFill>
                  <a:srgbClr val="17365D"/>
                </a:solidFill>
              </a:defRPr>
            </a:lvl1pPr>
            <a:lvl2pPr lvl="1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2pPr>
            <a:lvl3pPr lvl="2" algn="ctr" rtl="0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 rtl="0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>
                <a:solidFill>
                  <a:srgbClr val="888888"/>
                </a:solidFill>
              </a:defRPr>
            </a:lvl4pPr>
            <a:lvl5pPr lvl="4" algn="ctr" rtl="0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>
                <a:solidFill>
                  <a:srgbClr val="888888"/>
                </a:solidFill>
              </a:defRPr>
            </a:lvl5pPr>
            <a:lvl6pPr lvl="5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 panose="020B0604030504040204"/>
              <a:buNone/>
              <a:defRPr>
                <a:solidFill>
                  <a:srgbClr val="17365D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body" idx="1"/>
          </p:nvPr>
        </p:nvSpPr>
        <p:spPr>
          <a:xfrm>
            <a:off x="812800" y="1143001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solidFill>
                  <a:schemeClr val="dk1"/>
                </a:solidFill>
              </a:defRPr>
            </a:lvl1pPr>
            <a:lvl2pPr marL="91440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solidFill>
                  <a:schemeClr val="dk1"/>
                </a:solidFill>
              </a:defRPr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3pPr>
            <a:lvl4pPr marL="182880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>
                <a:solidFill>
                  <a:schemeClr val="dk1"/>
                </a:solidFill>
              </a:defRPr>
            </a:lvl4pPr>
            <a:lvl5pPr marL="228600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>
                <a:solidFill>
                  <a:schemeClr val="dk1"/>
                </a:solidFill>
              </a:defRPr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963084" y="4406903"/>
            <a:ext cx="10363200" cy="13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4000"/>
              <a:buFont typeface="Verdana" panose="020B0604030504040204"/>
              <a:buNone/>
              <a:defRPr sz="4000" b="1" cap="none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 rtl="0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 rtl="0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Verdana" panose="020B0604030504040204"/>
              <a:buNone/>
              <a:defRPr>
                <a:solidFill>
                  <a:srgbClr val="FF00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1"/>
          </p:nvPr>
        </p:nvSpPr>
        <p:spPr>
          <a:xfrm>
            <a:off x="609600" y="1600203"/>
            <a:ext cx="53847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body" idx="2"/>
          </p:nvPr>
        </p:nvSpPr>
        <p:spPr>
          <a:xfrm>
            <a:off x="6197600" y="1600203"/>
            <a:ext cx="53847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859368" y="304800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Verdana" panose="020B0604030504040204"/>
              <a:buNone/>
              <a:defRPr>
                <a:solidFill>
                  <a:srgbClr val="FF00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body" idx="1"/>
          </p:nvPr>
        </p:nvSpPr>
        <p:spPr>
          <a:xfrm>
            <a:off x="609600" y="1535113"/>
            <a:ext cx="53868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body" idx="2"/>
          </p:nvPr>
        </p:nvSpPr>
        <p:spPr>
          <a:xfrm>
            <a:off x="609600" y="2174875"/>
            <a:ext cx="53868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3"/>
          </p:nvPr>
        </p:nvSpPr>
        <p:spPr>
          <a:xfrm>
            <a:off x="6193369" y="1535113"/>
            <a:ext cx="53889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4"/>
          </p:nvPr>
        </p:nvSpPr>
        <p:spPr>
          <a:xfrm>
            <a:off x="6193369" y="2174875"/>
            <a:ext cx="53889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 txBox="1">
            <a:spLocks noGrp="1"/>
          </p:cNvSpPr>
          <p:nvPr>
            <p:ph type="title"/>
          </p:nvPr>
        </p:nvSpPr>
        <p:spPr>
          <a:xfrm>
            <a:off x="3860800" y="274638"/>
            <a:ext cx="77217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7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  <p:pic>
        <p:nvPicPr>
          <p:cNvPr id="52" name="Google Shape;52;p7" descr="C:\Users\AMMU\Desktop\Border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2505209" y="139874"/>
            <a:ext cx="9686793" cy="698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8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8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9"/>
          <p:cNvSpPr txBox="1">
            <a:spLocks noGrp="1"/>
          </p:cNvSpPr>
          <p:nvPr>
            <p:ph type="title"/>
          </p:nvPr>
        </p:nvSpPr>
        <p:spPr>
          <a:xfrm>
            <a:off x="609602" y="273050"/>
            <a:ext cx="4011000" cy="11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Verdana" panose="020B0604030504040204"/>
              <a:buNone/>
              <a:defRPr sz="2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1"/>
          </p:nvPr>
        </p:nvSpPr>
        <p:spPr>
          <a:xfrm>
            <a:off x="4766733" y="273053"/>
            <a:ext cx="6815700" cy="58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2"/>
          </p:nvPr>
        </p:nvSpPr>
        <p:spPr>
          <a:xfrm>
            <a:off x="609602" y="1435103"/>
            <a:ext cx="4011000" cy="469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 txBox="1">
            <a:spLocks noGrp="1"/>
          </p:cNvSpPr>
          <p:nvPr>
            <p:ph type="title"/>
          </p:nvPr>
        </p:nvSpPr>
        <p:spPr>
          <a:xfrm>
            <a:off x="2389717" y="4800600"/>
            <a:ext cx="73152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Verdana" panose="020B0604030504040204"/>
              <a:buNone/>
              <a:defRPr sz="2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>
            <a:spLocks noGrp="1"/>
          </p:cNvSpPr>
          <p:nvPr>
            <p:ph type="pic" idx="2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10"/>
          <p:cNvSpPr txBox="1">
            <a:spLocks noGrp="1"/>
          </p:cNvSpPr>
          <p:nvPr>
            <p:ph type="body" idx="1"/>
          </p:nvPr>
        </p:nvSpPr>
        <p:spPr>
          <a:xfrm>
            <a:off x="2389717" y="5367338"/>
            <a:ext cx="7315200" cy="8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body" idx="1"/>
          </p:nvPr>
        </p:nvSpPr>
        <p:spPr>
          <a:xfrm rot="5400000">
            <a:off x="3670300" y="-1714499"/>
            <a:ext cx="4953000" cy="1066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2"/>
          <p:cNvSpPr txBox="1">
            <a:spLocks noGrp="1"/>
          </p:cNvSpPr>
          <p:nvPr>
            <p:ph type="title"/>
          </p:nvPr>
        </p:nvSpPr>
        <p:spPr>
          <a:xfrm rot="5400000">
            <a:off x="7285050" y="1828791"/>
            <a:ext cx="58515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body" idx="1"/>
          </p:nvPr>
        </p:nvSpPr>
        <p:spPr>
          <a:xfrm rot="5400000">
            <a:off x="1697000" y="-812859"/>
            <a:ext cx="5851500" cy="80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Verdana" panose="020B0604030504040204"/>
              <a:buNone/>
              <a:defRPr sz="2800" b="1" i="0" u="none" strike="noStrike" cap="none">
                <a:solidFill>
                  <a:srgbClr val="FF0000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12800" y="1143001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defRPr>
            </a:lvl1pPr>
            <a:lvl2pPr marL="914400" marR="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 b="0" i="0" u="none" strike="noStrik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defRPr>
            </a:lvl2pPr>
            <a:lvl3pPr marL="1371600" marR="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defRPr>
            </a:lvl3pPr>
            <a:lvl4pPr marL="1828800" marR="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Char char="–"/>
              <a:defRPr sz="1600" b="0" i="0" u="none" strike="noStrik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defRPr>
            </a:lvl4pPr>
            <a:lvl5pPr marL="2286000" marR="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Char char="»"/>
              <a:defRPr sz="1600" b="0" i="0" u="none" strike="noStrik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  <p:cxnSp>
        <p:nvCxnSpPr>
          <p:cNvPr id="11" name="Google Shape;11;p1"/>
          <p:cNvCxnSpPr/>
          <p:nvPr/>
        </p:nvCxnSpPr>
        <p:spPr>
          <a:xfrm>
            <a:off x="812800" y="914400"/>
            <a:ext cx="10668000" cy="0"/>
          </a:xfrm>
          <a:prstGeom prst="straightConnector1">
            <a:avLst/>
          </a:prstGeom>
          <a:noFill/>
          <a:ln w="57150" cap="flat" cmpd="thickThin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2" name="Google Shape;12;p1"/>
          <p:cNvPicPr preferRelativeResize="0"/>
          <p:nvPr/>
        </p:nvPicPr>
        <p:blipFill rotWithShape="1">
          <a:blip r:embed="rId13"/>
          <a:srcRect b="18046"/>
          <a:stretch>
            <a:fillRect/>
          </a:stretch>
        </p:blipFill>
        <p:spPr>
          <a:xfrm>
            <a:off x="0" y="5991366"/>
            <a:ext cx="12192001" cy="866633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4" Type="http://schemas.openxmlformats.org/officeDocument/2006/relationships/notesSlide" Target="../notesSlides/notesSlide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3"/>
          <p:cNvSpPr txBox="1">
            <a:spLocks noGrp="1"/>
          </p:cNvSpPr>
          <p:nvPr>
            <p:ph type="ctrTitle"/>
          </p:nvPr>
        </p:nvSpPr>
        <p:spPr>
          <a:xfrm>
            <a:off x="790469" y="1069102"/>
            <a:ext cx="10363200" cy="962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 panose="020B0604030504040204"/>
              <a:buNone/>
            </a:pPr>
            <a:r>
              <a:rPr lang="en-GB" sz="2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PROJECT TITLE</a:t>
            </a:r>
            <a:br>
              <a:rPr lang="en-GB" sz="2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altLang="en-GB" sz="2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PSCS_282_AI-Driven Crop Disease Prediction and Management System</a:t>
            </a:r>
          </a:p>
        </p:txBody>
      </p:sp>
      <p:sp>
        <p:nvSpPr>
          <p:cNvPr id="88" name="Google Shape;88;p13"/>
          <p:cNvSpPr txBox="1">
            <a:spLocks noGrp="1"/>
          </p:cNvSpPr>
          <p:nvPr>
            <p:ph type="subTitle" idx="1"/>
          </p:nvPr>
        </p:nvSpPr>
        <p:spPr>
          <a:xfrm>
            <a:off x="790468" y="2045352"/>
            <a:ext cx="4391131" cy="5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000"/>
              <a:buNone/>
            </a:pPr>
            <a:r>
              <a:rPr lang="en-GB" sz="1800" dirty="0">
                <a:latin typeface="Cambria" panose="02040503050406030204" pitchFamily="18" charset="0"/>
                <a:ea typeface="Cambria" panose="02040503050406030204" pitchFamily="18" charset="0"/>
              </a:rPr>
              <a:t>Batch Number:</a:t>
            </a:r>
            <a:r>
              <a:rPr lang="en-IN" altLang="en-GB" sz="1800" dirty="0">
                <a:latin typeface="Cambria" panose="02040503050406030204" pitchFamily="18" charset="0"/>
                <a:ea typeface="Cambria" panose="02040503050406030204" pitchFamily="18" charset="0"/>
              </a:rPr>
              <a:t>  </a:t>
            </a:r>
            <a:r>
              <a:rPr lang="en-US" altLang="en-GB" sz="1800" dirty="0">
                <a:latin typeface="Cambria" panose="02040503050406030204" pitchFamily="18" charset="0"/>
                <a:ea typeface="Cambria" panose="02040503050406030204" pitchFamily="18" charset="0"/>
              </a:rPr>
              <a:t>COM_22</a:t>
            </a:r>
          </a:p>
        </p:txBody>
      </p:sp>
      <p:sp>
        <p:nvSpPr>
          <p:cNvPr id="90" name="Google Shape;90;p13"/>
          <p:cNvSpPr txBox="1"/>
          <p:nvPr/>
        </p:nvSpPr>
        <p:spPr>
          <a:xfrm>
            <a:off x="6480195" y="2513340"/>
            <a:ext cx="5514300" cy="202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 panose="020B0604020202020204"/>
              <a:buNone/>
            </a:pPr>
            <a:r>
              <a:rPr lang="en-GB" sz="18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Under the Supervision of</a:t>
            </a:r>
            <a:r>
              <a:rPr lang="en-IN" altLang="en-GB" sz="18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,</a:t>
            </a: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604030504040204"/>
              <a:sym typeface="Verdana" panose="020B0604030504040204"/>
            </a:endParaRPr>
          </a:p>
          <a:p>
            <a:pPr marL="0" marR="0" lvl="0" indent="0" algn="ctr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 panose="020B0604020202020204"/>
              <a:buNone/>
            </a:pPr>
            <a:r>
              <a:rPr lang="en-US" altLang="en-GB" sz="18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sym typeface="+mn-ea"/>
              </a:rPr>
              <a:t>Mr.Muthuraju V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ctr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 panose="020B0604020202020204"/>
              <a:buNone/>
            </a:pPr>
            <a:r>
              <a:rPr lang="en-IN" alt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 </a:t>
            </a: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Assistant Professor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ctr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 panose="020B0604020202020204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School of Computer Science and Engineering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ctr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 panose="020B0604020202020204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Presidency University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ctr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 panose="020B0604020202020204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604030504040204"/>
              <a:sym typeface="Verdana" panose="020B0604030504040204"/>
            </a:endParaRPr>
          </a:p>
        </p:txBody>
      </p:sp>
      <p:sp>
        <p:nvSpPr>
          <p:cNvPr id="91" name="Google Shape;91;p13"/>
          <p:cNvSpPr txBox="1"/>
          <p:nvPr/>
        </p:nvSpPr>
        <p:spPr>
          <a:xfrm>
            <a:off x="2832225" y="136441"/>
            <a:ext cx="5498973" cy="729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 panose="020B0604020202020204"/>
              <a:buNone/>
            </a:pPr>
            <a:r>
              <a:rPr lang="en-GB" sz="1800" b="1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CSE7101-</a:t>
            </a:r>
            <a:r>
              <a:rPr lang="en-GB" sz="18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 Capstone Project</a:t>
            </a:r>
            <a:endParaRPr sz="18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ctr" rtl="0">
              <a:spcBef>
                <a:spcPts val="31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 panose="020B0604020202020204"/>
              <a:buNone/>
            </a:pPr>
            <a:r>
              <a:rPr lang="en-GB" sz="18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Review-1</a:t>
            </a:r>
            <a:endParaRPr sz="18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604030504040204"/>
              <a:sym typeface="Verdana" panose="020B0604030504040204"/>
            </a:endParaRPr>
          </a:p>
        </p:txBody>
      </p:sp>
      <p:sp>
        <p:nvSpPr>
          <p:cNvPr id="8" name="Google Shape;91;p13"/>
          <p:cNvSpPr txBox="1"/>
          <p:nvPr/>
        </p:nvSpPr>
        <p:spPr>
          <a:xfrm>
            <a:off x="0" y="4533900"/>
            <a:ext cx="12249915" cy="15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 panose="020B0604020202020204"/>
              <a:buNone/>
            </a:pPr>
            <a:r>
              <a:rPr lang="en-US" sz="1800" b="1" i="0" u="none" strike="noStrike" cap="none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Name of the Program: </a:t>
            </a:r>
            <a:r>
              <a:rPr lang="en-IN" altLang="en-US" sz="1800" b="1" i="0" u="none" strike="noStrike" cap="none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COM</a:t>
            </a:r>
            <a:endParaRPr lang="en-US" sz="1800" b="1" i="0" u="none" strike="noStrike" cap="none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604030504040204"/>
              <a:sym typeface="Verdana" panose="020B0604030504040204"/>
            </a:endParaRP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 panose="020B0604020202020204"/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Name of the HoD: </a:t>
            </a:r>
            <a:r>
              <a:rPr lang="en-US" altLang="en-GB" sz="18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Dr. Pallavi R  </a:t>
            </a:r>
            <a:endParaRPr lang="en-US" altLang="en-GB" sz="1800" b="1" dirty="0">
              <a:solidFill>
                <a:srgbClr val="FF0000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604030504040204"/>
              <a:sym typeface="Verdana" panose="020B0604030504040204"/>
            </a:endParaRPr>
          </a:p>
          <a:p>
            <a:pPr lvl="0">
              <a:buClr>
                <a:srgbClr val="17365D"/>
              </a:buClr>
              <a:buSzPct val="100000"/>
            </a:pPr>
            <a:r>
              <a:rPr lang="en-US" sz="1800" b="1" i="0" u="none" strike="noStrike" cap="none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Name of the Program Project Coordinator: </a:t>
            </a:r>
            <a:r>
              <a:rPr lang="en-US" altLang="en-GB" sz="18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Ms. Benitha Christinal J </a:t>
            </a:r>
          </a:p>
          <a:p>
            <a:pPr lvl="0">
              <a:buClr>
                <a:srgbClr val="17365D"/>
              </a:buClr>
              <a:buSzPct val="100000"/>
            </a:pPr>
            <a:r>
              <a:rPr lang="en-US" sz="18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Name of the School Project Coordinators: </a:t>
            </a:r>
            <a:r>
              <a:rPr lang="en-US" sz="1800" b="1" i="0" u="none" strike="noStrike" cap="none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Dr. </a:t>
            </a:r>
            <a:r>
              <a:rPr lang="en-US" sz="1800" b="1" i="0" u="none" strike="noStrike" cap="none" dirty="0" err="1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Sampath</a:t>
            </a:r>
            <a:r>
              <a:rPr lang="en-US" sz="1800" b="1" i="0" u="none" strike="noStrike" cap="none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 A K , Dr. </a:t>
            </a:r>
            <a:r>
              <a:rPr lang="en-US" sz="1800" b="1" i="0" u="none" strike="noStrike" cap="none" dirty="0" err="1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Geetha</a:t>
            </a:r>
            <a:r>
              <a:rPr lang="en-US" sz="1800" b="1" i="0" u="none" strike="noStrike" cap="none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 A </a:t>
            </a:r>
            <a:endParaRPr sz="1800" b="1" i="0" u="none" strike="noStrike" cap="none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604030504040204"/>
              <a:sym typeface="Verdana" panose="020B0604030504040204"/>
            </a:endParaRPr>
          </a:p>
        </p:txBody>
      </p:sp>
      <p:graphicFrame>
        <p:nvGraphicFramePr>
          <p:cNvPr id="9" name="Table 8"/>
          <p:cNvGraphicFramePr/>
          <p:nvPr>
            <p:custDataLst>
              <p:tags r:id="rId1"/>
            </p:custDataLst>
          </p:nvPr>
        </p:nvGraphicFramePr>
        <p:xfrm>
          <a:off x="790575" y="2511425"/>
          <a:ext cx="4840605" cy="194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07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5140">
                <a:tc>
                  <a:txBody>
                    <a:bodyPr/>
                    <a:lstStyle/>
                    <a:p>
                      <a:r>
                        <a:rPr lang="en-US" altLang="zh-CN" sz="1100"/>
                        <a:t>Roll Number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altLang="zh-CN" sz="1100"/>
                        <a:t>Student Name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5140">
                <a:tc>
                  <a:txBody>
                    <a:bodyPr/>
                    <a:lstStyle/>
                    <a:p>
                      <a:r>
                        <a:rPr lang="en-US" altLang="zh-CN" sz="1100"/>
                        <a:t>20221COM0084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altLang="zh-CN" sz="1100"/>
                        <a:t>Vishnu M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5140">
                <a:tc>
                  <a:txBody>
                    <a:bodyPr/>
                    <a:lstStyle/>
                    <a:p>
                      <a:r>
                        <a:rPr lang="en-US" altLang="zh-CN" sz="1100"/>
                        <a:t>20221COM0096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altLang="zh-CN" sz="1100"/>
                        <a:t>R Akash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5140">
                <a:tc>
                  <a:txBody>
                    <a:bodyPr/>
                    <a:lstStyle/>
                    <a:p>
                      <a:r>
                        <a:rPr lang="en-US" altLang="zh-CN" sz="1100"/>
                        <a:t>20221COM0099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altLang="zh-CN" sz="1100"/>
                        <a:t>Jagadish T S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 panose="020B0604030504040204"/>
              <a:buNone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Content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7" name="Google Shape;97;p14"/>
          <p:cNvSpPr txBox="1">
            <a:spLocks noGrp="1"/>
          </p:cNvSpPr>
          <p:nvPr>
            <p:ph type="body" idx="1"/>
          </p:nvPr>
        </p:nvSpPr>
        <p:spPr>
          <a:xfrm>
            <a:off x="655782" y="1466273"/>
            <a:ext cx="10668000" cy="3924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70000" lnSpcReduction="20000"/>
          </a:bodyPr>
          <a:lstStyle/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Problem Statement</a:t>
            </a: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Objectives</a:t>
            </a: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Background and Related work for title Selection</a:t>
            </a:r>
          </a:p>
          <a:p>
            <a:pPr marL="495300" lvl="0" indent="-342900" algn="just">
              <a:lnSpc>
                <a:spcPct val="2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Analysis of Problem Statement</a:t>
            </a:r>
          </a:p>
          <a:p>
            <a:pPr marL="495300" lvl="0" indent="-342900" algn="just">
              <a:lnSpc>
                <a:spcPct val="2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Innovation or Novel Contributions</a:t>
            </a:r>
            <a:endParaRPr lang="en-US" sz="32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dirty="0" err="1">
                <a:latin typeface="Cambria" panose="02040503050406030204" pitchFamily="18" charset="0"/>
                <a:ea typeface="Cambria" panose="02040503050406030204" pitchFamily="18" charset="0"/>
              </a:rPr>
              <a:t>Git</a:t>
            </a: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-hub Link</a:t>
            </a:r>
          </a:p>
          <a:p>
            <a:pPr marL="495300" lvl="0" indent="-3429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Timeline of the Project</a:t>
            </a:r>
          </a:p>
          <a:p>
            <a:pPr marL="495300" lvl="0" indent="-3429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References</a:t>
            </a:r>
          </a:p>
          <a:p>
            <a:pPr marL="495300" lvl="0" indent="-3429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Wingdings" panose="05000000000000000000" pitchFamily="2" charset="2"/>
              <a:buChar char="Ø"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lvl="0" indent="-3429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Wingdings" panose="05000000000000000000" pitchFamily="2" charset="2"/>
              <a:buChar char="Ø"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lvl="0" indent="-3429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Wingdings" panose="05000000000000000000" pitchFamily="2" charset="2"/>
              <a:buChar char="Ø"/>
            </a:pP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 panose="020B0604030504040204"/>
              <a:buNone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Problem Statement Number: </a:t>
            </a:r>
            <a:r>
              <a:rPr lang="en-US" altLang="en-GB" dirty="0">
                <a:latin typeface="Cambria" panose="02040503050406030204" pitchFamily="18" charset="0"/>
                <a:ea typeface="Cambria" panose="02040503050406030204" pitchFamily="18" charset="0"/>
              </a:rPr>
              <a:t>PSCS_282</a:t>
            </a:r>
          </a:p>
        </p:txBody>
      </p:sp>
      <p:sp>
        <p:nvSpPr>
          <p:cNvPr id="97" name="Google Shape;97;p14"/>
          <p:cNvSpPr txBox="1">
            <a:spLocks noGrp="1"/>
          </p:cNvSpPr>
          <p:nvPr>
            <p:ph type="body" idx="1"/>
          </p:nvPr>
        </p:nvSpPr>
        <p:spPr>
          <a:xfrm>
            <a:off x="812800" y="1143001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60000"/>
          </a:bodyPr>
          <a:lstStyle/>
          <a:p>
            <a:pPr marL="438150" lvl="0" indent="-285750" algn="just">
              <a:spcBef>
                <a:spcPts val="0"/>
              </a:spcBef>
            </a:pPr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</a:rPr>
              <a:t>Organization</a:t>
            </a: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: </a:t>
            </a:r>
            <a:r>
              <a:rPr lang="en-US" altLang="en-GB" dirty="0">
                <a:latin typeface="Cambria" panose="02040503050406030204" pitchFamily="18" charset="0"/>
                <a:ea typeface="Cambria" panose="02040503050406030204" pitchFamily="18" charset="0"/>
              </a:rPr>
              <a:t>Presidency University – School of Computer Science and Engineering</a:t>
            </a:r>
          </a:p>
          <a:p>
            <a:pPr marL="438150" lvl="0" indent="-285750" algn="just">
              <a:lnSpc>
                <a:spcPct val="200000"/>
              </a:lnSpc>
              <a:spcBef>
                <a:spcPts val="0"/>
              </a:spcBef>
            </a:pPr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</a:rPr>
              <a:t>Category (Hardware / Software / Both) :</a:t>
            </a:r>
            <a:r>
              <a:rPr lang="en-IN" altLang="en-US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  <a:sym typeface="+mn-ea"/>
              </a:rPr>
              <a:t>Software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38150" lvl="0" indent="-285750" algn="just">
              <a:lnSpc>
                <a:spcPct val="200000"/>
              </a:lnSpc>
              <a:spcBef>
                <a:spcPts val="0"/>
              </a:spcBef>
            </a:pPr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</a:rPr>
              <a:t>Problem Description:</a:t>
            </a:r>
            <a:r>
              <a:rPr lang="en-IN" altLang="en-US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altLang="en-GB" dirty="0">
                <a:latin typeface="Cambria" panose="02040503050406030204" pitchFamily="18" charset="0"/>
                <a:ea typeface="Cambria" panose="02040503050406030204" pitchFamily="18" charset="0"/>
              </a:rPr>
              <a:t>Background: Crop diseases can devastate yields, leading to significant financial </a:t>
            </a:r>
          </a:p>
          <a:p>
            <a:pPr marL="342900" lvl="0" indent="-190500" algn="just">
              <a:lnSpc>
                <a:spcPct val="200000"/>
              </a:lnSpc>
              <a:spcBef>
                <a:spcPts val="0"/>
              </a:spcBef>
              <a:buNone/>
            </a:pPr>
            <a:r>
              <a:rPr lang="en-IN" altLang="en-US" dirty="0">
                <a:latin typeface="Cambria" panose="02040503050406030204" pitchFamily="18" charset="0"/>
                <a:ea typeface="Cambria" panose="02040503050406030204" pitchFamily="18" charset="0"/>
              </a:rPr>
              <a:t>         </a:t>
            </a:r>
            <a:r>
              <a:rPr lang="en-US" altLang="en-GB" dirty="0">
                <a:latin typeface="Cambria" panose="02040503050406030204" pitchFamily="18" charset="0"/>
                <a:ea typeface="Cambria" panose="02040503050406030204" pitchFamily="18" charset="0"/>
              </a:rPr>
              <a:t>losses for farmers. Early detection and timely intervention are crucial for effective</a:t>
            </a:r>
            <a:r>
              <a:rPr lang="en-IN" altLang="en-US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altLang="en-GB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</a:p>
          <a:p>
            <a:pPr marL="342900" lvl="0" indent="-190500" algn="just">
              <a:lnSpc>
                <a:spcPct val="200000"/>
              </a:lnSpc>
              <a:spcBef>
                <a:spcPts val="0"/>
              </a:spcBef>
              <a:buNone/>
            </a:pPr>
            <a:r>
              <a:rPr lang="en-IN" altLang="en-US" dirty="0">
                <a:latin typeface="Cambria" panose="02040503050406030204" pitchFamily="18" charset="0"/>
                <a:ea typeface="Cambria" panose="02040503050406030204" pitchFamily="18" charset="0"/>
              </a:rPr>
              <a:t>         </a:t>
            </a:r>
            <a:r>
              <a:rPr lang="en-US" altLang="en-GB" dirty="0">
                <a:latin typeface="Cambria" panose="02040503050406030204" pitchFamily="18" charset="0"/>
                <a:ea typeface="Cambria" panose="02040503050406030204" pitchFamily="18" charset="0"/>
              </a:rPr>
              <a:t>management. Description: Develop an AI-driven system that analyzes crop images </a:t>
            </a:r>
          </a:p>
          <a:p>
            <a:pPr marL="342900" lvl="0" indent="-190500" algn="just">
              <a:lnSpc>
                <a:spcPct val="200000"/>
              </a:lnSpc>
              <a:spcBef>
                <a:spcPts val="0"/>
              </a:spcBef>
              <a:buNone/>
            </a:pPr>
            <a:r>
              <a:rPr lang="en-IN" altLang="en-US" dirty="0">
                <a:latin typeface="Cambria" panose="02040503050406030204" pitchFamily="18" charset="0"/>
                <a:ea typeface="Cambria" panose="02040503050406030204" pitchFamily="18" charset="0"/>
              </a:rPr>
              <a:t>         </a:t>
            </a:r>
            <a:r>
              <a:rPr lang="en-US" altLang="en-GB" dirty="0">
                <a:latin typeface="Cambria" panose="02040503050406030204" pitchFamily="18" charset="0"/>
                <a:ea typeface="Cambria" panose="02040503050406030204" pitchFamily="18" charset="0"/>
              </a:rPr>
              <a:t>and environmental data to predict potential disease outbreaks. This system will </a:t>
            </a:r>
          </a:p>
          <a:p>
            <a:pPr marL="342900" lvl="0" indent="-190500" algn="just">
              <a:lnSpc>
                <a:spcPct val="200000"/>
              </a:lnSpc>
              <a:spcBef>
                <a:spcPts val="0"/>
              </a:spcBef>
              <a:buNone/>
            </a:pPr>
            <a:r>
              <a:rPr lang="en-IN" altLang="en-US" dirty="0">
                <a:latin typeface="Cambria" panose="02040503050406030204" pitchFamily="18" charset="0"/>
                <a:ea typeface="Cambria" panose="02040503050406030204" pitchFamily="18" charset="0"/>
              </a:rPr>
              <a:t>         </a:t>
            </a:r>
            <a:r>
              <a:rPr lang="en-US" altLang="en-GB" dirty="0">
                <a:latin typeface="Cambria" panose="02040503050406030204" pitchFamily="18" charset="0"/>
                <a:ea typeface="Cambria" panose="02040503050406030204" pitchFamily="18" charset="0"/>
              </a:rPr>
              <a:t>provide farmers with actionable insights and treatment recommendations to </a:t>
            </a:r>
          </a:p>
          <a:p>
            <a:pPr marL="342900" lvl="0" indent="-190500" algn="just">
              <a:lnSpc>
                <a:spcPct val="200000"/>
              </a:lnSpc>
              <a:spcBef>
                <a:spcPts val="0"/>
              </a:spcBef>
              <a:buNone/>
            </a:pPr>
            <a:r>
              <a:rPr lang="en-IN" altLang="en-US" dirty="0">
                <a:latin typeface="Cambria" panose="02040503050406030204" pitchFamily="18" charset="0"/>
                <a:ea typeface="Cambria" panose="02040503050406030204" pitchFamily="18" charset="0"/>
              </a:rPr>
              <a:t>         </a:t>
            </a:r>
            <a:r>
              <a:rPr lang="en-US" altLang="en-GB" dirty="0">
                <a:latin typeface="Cambria" panose="02040503050406030204" pitchFamily="18" charset="0"/>
                <a:ea typeface="Cambria" panose="02040503050406030204" pitchFamily="18" charset="0"/>
              </a:rPr>
              <a:t>mitigate risks. Expected Solution: A mobile and web-based application that utilizes </a:t>
            </a:r>
          </a:p>
          <a:p>
            <a:pPr marL="342900" lvl="0" indent="-190500" algn="just">
              <a:lnSpc>
                <a:spcPct val="200000"/>
              </a:lnSpc>
              <a:spcBef>
                <a:spcPts val="0"/>
              </a:spcBef>
              <a:buNone/>
            </a:pPr>
            <a:r>
              <a:rPr lang="en-IN" altLang="en-US" dirty="0">
                <a:latin typeface="Cambria" panose="02040503050406030204" pitchFamily="18" charset="0"/>
                <a:ea typeface="Cambria" panose="02040503050406030204" pitchFamily="18" charset="0"/>
              </a:rPr>
              <a:t>         </a:t>
            </a:r>
            <a:r>
              <a:rPr lang="en-US" altLang="en-GB" dirty="0">
                <a:latin typeface="Cambria" panose="02040503050406030204" pitchFamily="18" charset="0"/>
                <a:ea typeface="Cambria" panose="02040503050406030204" pitchFamily="18" charset="0"/>
              </a:rPr>
              <a:t>machine learning algorithms to identify crop diseases and suggest preventive </a:t>
            </a:r>
          </a:p>
          <a:p>
            <a:pPr marL="342900" lvl="0" indent="-190500" algn="just">
              <a:lnSpc>
                <a:spcPct val="200000"/>
              </a:lnSpc>
              <a:spcBef>
                <a:spcPts val="0"/>
              </a:spcBef>
              <a:buNone/>
            </a:pPr>
            <a:r>
              <a:rPr lang="en-IN" altLang="en-US" dirty="0">
                <a:latin typeface="Cambria" panose="02040503050406030204" pitchFamily="18" charset="0"/>
                <a:ea typeface="Cambria" panose="02040503050406030204" pitchFamily="18" charset="0"/>
              </a:rPr>
              <a:t>         </a:t>
            </a:r>
            <a:r>
              <a:rPr lang="en-US" altLang="en-GB" dirty="0">
                <a:latin typeface="Cambria" panose="02040503050406030204" pitchFamily="18" charset="0"/>
                <a:ea typeface="Cambria" panose="02040503050406030204" pitchFamily="18" charset="0"/>
              </a:rPr>
              <a:t>measures and treatments based on real-time data.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GB">
                <a:effectLst/>
                <a:latin typeface="Cambria" panose="02040503050406030204" pitchFamily="18" charset="0"/>
                <a:cs typeface="Cambria" panose="02040503050406030204" pitchFamily="18" charset="0"/>
              </a:rPr>
              <a:t>Objectives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0000"/>
          </a:bodyPr>
          <a:lstStyle/>
          <a:p>
            <a:pPr marL="533400" indent="-457200">
              <a:buAutoNum type="arabicPeriod"/>
            </a:pPr>
            <a:r>
              <a:rPr lang="en-US" altLang="en-GB">
                <a:latin typeface="Cambria" panose="02040503050406030204" pitchFamily="18" charset="0"/>
                <a:cs typeface="Cambria" panose="02040503050406030204" pitchFamily="18" charset="0"/>
              </a:rPr>
              <a:t>To develop an AI-based model capable of detecting crop diseases from plant images.</a:t>
            </a:r>
          </a:p>
          <a:p>
            <a:pPr marL="533400" indent="-457200">
              <a:buAutoNum type="arabicPeriod"/>
            </a:pPr>
            <a:endParaRPr lang="en-US" altLang="en-GB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533400" indent="-457200">
              <a:buAutoNum type="arabicPeriod"/>
            </a:pPr>
            <a:r>
              <a:rPr lang="en-US" altLang="en-GB">
                <a:latin typeface="Cambria" panose="02040503050406030204" pitchFamily="18" charset="0"/>
                <a:cs typeface="Cambria" panose="02040503050406030204" pitchFamily="18" charset="0"/>
              </a:rPr>
              <a:t>To design a web application that allows farmers to upload crop/leaf images for analysis.</a:t>
            </a:r>
          </a:p>
          <a:p>
            <a:pPr marL="533400" indent="-457200">
              <a:buAutoNum type="arabicPeriod"/>
            </a:pPr>
            <a:endParaRPr lang="en-US" altLang="en-GB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533400" indent="-457200">
              <a:buAutoNum type="arabicPeriod"/>
            </a:pPr>
            <a:r>
              <a:rPr lang="en-US" altLang="en-GB">
                <a:latin typeface="Cambria" panose="02040503050406030204" pitchFamily="18" charset="0"/>
                <a:cs typeface="Cambria" panose="02040503050406030204" pitchFamily="18" charset="0"/>
              </a:rPr>
              <a:t>To provide treatment and preventive recommendations for detected diseases.</a:t>
            </a:r>
          </a:p>
          <a:p>
            <a:pPr marL="533400" indent="-457200">
              <a:buAutoNum type="arabicPeriod"/>
            </a:pPr>
            <a:endParaRPr lang="en-US" altLang="en-GB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533400" indent="-457200">
              <a:buAutoNum type="arabicPeriod"/>
            </a:pPr>
            <a:r>
              <a:rPr lang="en-US" altLang="en-GB">
                <a:latin typeface="Cambria" panose="02040503050406030204" pitchFamily="18" charset="0"/>
                <a:cs typeface="Cambria" panose="02040503050406030204" pitchFamily="18" charset="0"/>
              </a:rPr>
              <a:t>To maintain a database of diseases and remedies for quick retrieval.</a:t>
            </a:r>
          </a:p>
          <a:p>
            <a:pPr marL="533400" indent="-457200">
              <a:buAutoNum type="arabicPeriod"/>
            </a:pPr>
            <a:endParaRPr lang="en-US" altLang="en-GB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533400" indent="-457200">
              <a:buAutoNum type="arabicPeriod"/>
            </a:pPr>
            <a:r>
              <a:rPr lang="en-US" altLang="en-GB">
                <a:latin typeface="Cambria" panose="02040503050406030204" pitchFamily="18" charset="0"/>
                <a:cs typeface="Cambria" panose="02040503050406030204" pitchFamily="18" charset="0"/>
              </a:rPr>
              <a:t>To improve farmer decision-making through accessible, real-time insights.</a:t>
            </a:r>
          </a:p>
          <a:p>
            <a:pPr marL="533400" indent="-457200">
              <a:buAutoNum type="arabicPeriod"/>
            </a:pPr>
            <a:endParaRPr lang="en-US" altLang="en-GB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pPr marL="533400" indent="-457200">
              <a:buAutoNum type="arabicPeriod"/>
            </a:pPr>
            <a:r>
              <a:rPr lang="en-US" altLang="en-GB">
                <a:latin typeface="Cambria" panose="02040503050406030204" pitchFamily="18" charset="0"/>
                <a:cs typeface="Cambria" panose="02040503050406030204" pitchFamily="18" charset="0"/>
              </a:rPr>
              <a:t>To lay the foundation for integrating mobile-based solutions and environmental data for future scalability.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GB">
                <a:latin typeface="Cambria" panose="02040503050406030204" pitchFamily="18" charset="0"/>
                <a:cs typeface="Cambria" panose="02040503050406030204" pitchFamily="18" charset="0"/>
              </a:rPr>
              <a:t>Background and Related Work for Title Selection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0000"/>
          </a:bodyPr>
          <a:lstStyle/>
          <a:p>
            <a:r>
              <a:rPr lang="en-US" altLang="en-GB">
                <a:latin typeface="Cambria" panose="02040503050406030204" pitchFamily="18" charset="0"/>
                <a:cs typeface="Cambria" panose="02040503050406030204" pitchFamily="18" charset="0"/>
              </a:rPr>
              <a:t>Crop disease detection has been traditionally performed through manual inspection, requiring expert knowledge and time.</a:t>
            </a:r>
          </a:p>
          <a:p>
            <a:endParaRPr lang="en-US" altLang="en-GB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r>
              <a:rPr lang="en-US" altLang="en-GB">
                <a:latin typeface="Cambria" panose="02040503050406030204" pitchFamily="18" charset="0"/>
                <a:cs typeface="Cambria" panose="02040503050406030204" pitchFamily="18" charset="0"/>
              </a:rPr>
              <a:t>Research in deep learning and computer vision (e.g., PlantVillage dataset) has shown high accuracy in classifying plant diseases using CNNs.</a:t>
            </a:r>
          </a:p>
          <a:p>
            <a:endParaRPr lang="en-US" altLang="en-GB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r>
              <a:rPr lang="en-US" altLang="en-GB">
                <a:latin typeface="Cambria" panose="02040503050406030204" pitchFamily="18" charset="0"/>
                <a:cs typeface="Cambria" panose="02040503050406030204" pitchFamily="18" charset="0"/>
              </a:rPr>
              <a:t>Several studies (e.g., Kumar et al., 2021; Smith, 2021) demonstrate the effectiveness of convolutional neural networks (CNNs) in agricultural applications.</a:t>
            </a:r>
          </a:p>
          <a:p>
            <a:endParaRPr lang="en-US" altLang="en-GB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r>
              <a:rPr lang="en-US" altLang="en-GB">
                <a:latin typeface="Cambria" panose="02040503050406030204" pitchFamily="18" charset="0"/>
                <a:cs typeface="Cambria" panose="02040503050406030204" pitchFamily="18" charset="0"/>
              </a:rPr>
              <a:t>However, existing solutions often stop at disease identification, without offering treatment recommendations or farmer-friendly deployment.</a:t>
            </a:r>
          </a:p>
          <a:p>
            <a:endParaRPr lang="en-US" altLang="en-GB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r>
              <a:rPr lang="en-US" altLang="en-GB">
                <a:latin typeface="Cambria" panose="02040503050406030204" pitchFamily="18" charset="0"/>
                <a:cs typeface="Cambria" panose="02040503050406030204" pitchFamily="18" charset="0"/>
              </a:rPr>
              <a:t>This project addresses the gap by combining disease detection + treatment guidance in a web and mobile system accessible to farmers.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7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52400" lvl="0">
              <a:lnSpc>
                <a:spcPct val="200000"/>
              </a:lnSpc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Analysis of Problem Statement</a:t>
            </a:r>
          </a:p>
        </p:txBody>
      </p:sp>
      <p:sp>
        <p:nvSpPr>
          <p:cNvPr id="115" name="Google Shape;115;p17"/>
          <p:cNvSpPr txBox="1">
            <a:spLocks noGrp="1"/>
          </p:cNvSpPr>
          <p:nvPr>
            <p:ph type="body" idx="1"/>
          </p:nvPr>
        </p:nvSpPr>
        <p:spPr>
          <a:xfrm>
            <a:off x="812800" y="1143000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25000"/>
          </a:bodyPr>
          <a:lstStyle/>
          <a:p>
            <a:pPr marL="342900" lvl="0" indent="-1905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sz="11200" b="1" dirty="0">
                <a:latin typeface="Cambria" panose="02040503050406030204" pitchFamily="18" charset="0"/>
                <a:ea typeface="Cambria" panose="02040503050406030204" pitchFamily="18" charset="0"/>
              </a:rPr>
              <a:t>Technology Stack Components:</a:t>
            </a:r>
          </a:p>
          <a:p>
            <a:pPr marL="342900" lvl="0" indent="-190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altLang="en-GB" sz="4800" b="1" dirty="0">
                <a:latin typeface="Cambria" panose="02040503050406030204" pitchFamily="18" charset="0"/>
                <a:ea typeface="Cambria" panose="02040503050406030204" pitchFamily="18" charset="0"/>
              </a:rPr>
              <a:t>Target Users:</a:t>
            </a:r>
            <a:r>
              <a:rPr lang="en-US" altLang="en-GB" sz="4800" dirty="0">
                <a:latin typeface="Cambria" panose="02040503050406030204" pitchFamily="18" charset="0"/>
                <a:ea typeface="Cambria" panose="02040503050406030204" pitchFamily="18" charset="0"/>
              </a:rPr>
              <a:t> Farmers with limited technical expertise.</a:t>
            </a:r>
          </a:p>
          <a:p>
            <a:pPr marL="342900" lvl="0" indent="-190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endParaRPr lang="en-US" altLang="en-GB" sz="48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altLang="en-GB" sz="4800" b="1" dirty="0">
                <a:latin typeface="Cambria" panose="02040503050406030204" pitchFamily="18" charset="0"/>
                <a:ea typeface="Cambria" panose="02040503050406030204" pitchFamily="18" charset="0"/>
              </a:rPr>
              <a:t>Problem: </a:t>
            </a:r>
            <a:r>
              <a:rPr lang="en-US" altLang="en-GB" sz="4800" dirty="0">
                <a:latin typeface="Cambria" panose="02040503050406030204" pitchFamily="18" charset="0"/>
                <a:ea typeface="Cambria" panose="02040503050406030204" pitchFamily="18" charset="0"/>
              </a:rPr>
              <a:t>Crop diseases are difficult to identify early </a:t>
            </a:r>
            <a:r>
              <a:rPr lang="en-US" altLang="en-US" sz="4800" dirty="0">
                <a:latin typeface="Cambria" panose="02040503050406030204" pitchFamily="18" charset="0"/>
                <a:ea typeface="Cambria" panose="02040503050406030204" pitchFamily="18" charset="0"/>
              </a:rPr>
              <a:t>→</a:t>
            </a:r>
            <a:r>
              <a:rPr lang="en-US" altLang="en-GB" sz="4800" dirty="0">
                <a:latin typeface="Cambria" panose="02040503050406030204" pitchFamily="18" charset="0"/>
                <a:ea typeface="Cambria" panose="02040503050406030204" pitchFamily="18" charset="0"/>
              </a:rPr>
              <a:t> leads to reduced yield &amp; income loss.</a:t>
            </a:r>
          </a:p>
          <a:p>
            <a:pPr marL="342900" lvl="0" indent="-190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endParaRPr lang="en-US" altLang="en-GB" sz="48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altLang="en-GB" sz="4800" b="1" dirty="0">
                <a:latin typeface="Cambria" panose="02040503050406030204" pitchFamily="18" charset="0"/>
                <a:ea typeface="Cambria" panose="02040503050406030204" pitchFamily="18" charset="0"/>
              </a:rPr>
              <a:t>Input:</a:t>
            </a:r>
            <a:r>
              <a:rPr lang="en-US" altLang="en-GB" sz="4800" dirty="0">
                <a:latin typeface="Cambria" panose="02040503050406030204" pitchFamily="18" charset="0"/>
                <a:ea typeface="Cambria" panose="02040503050406030204" pitchFamily="18" charset="0"/>
              </a:rPr>
              <a:t> Crop/leaf image (captured via camera or uploaded).</a:t>
            </a:r>
          </a:p>
          <a:p>
            <a:pPr marL="342900" lvl="0" indent="-190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endParaRPr lang="en-US" altLang="en-GB" sz="48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altLang="en-GB" sz="4800" b="1" dirty="0">
                <a:latin typeface="Cambria" panose="02040503050406030204" pitchFamily="18" charset="0"/>
                <a:ea typeface="Cambria" panose="02040503050406030204" pitchFamily="18" charset="0"/>
              </a:rPr>
              <a:t>Process:</a:t>
            </a:r>
          </a:p>
          <a:p>
            <a:pPr marL="342900" lvl="0" indent="-190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endParaRPr lang="en-US" altLang="en-GB" sz="48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IN" altLang="en-US" sz="4800" dirty="0">
                <a:latin typeface="Cambria" panose="02040503050406030204" pitchFamily="18" charset="0"/>
                <a:ea typeface="Cambria" panose="02040503050406030204" pitchFamily="18" charset="0"/>
              </a:rPr>
              <a:t>          1.  </a:t>
            </a:r>
            <a:r>
              <a:rPr lang="en-US" altLang="en-GB" sz="4800" dirty="0">
                <a:latin typeface="Cambria" panose="02040503050406030204" pitchFamily="18" charset="0"/>
                <a:ea typeface="Cambria" panose="02040503050406030204" pitchFamily="18" charset="0"/>
              </a:rPr>
              <a:t>AI Model (CNN-based) analyzes the image.</a:t>
            </a:r>
          </a:p>
          <a:p>
            <a:pPr marL="381000" lvl="0" indent="-228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AutoNum type="arabicPeriod"/>
            </a:pPr>
            <a:endParaRPr lang="en-US" altLang="en-GB" sz="48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IN" altLang="en-US" sz="4800" dirty="0">
                <a:latin typeface="Cambria" panose="02040503050406030204" pitchFamily="18" charset="0"/>
                <a:ea typeface="Cambria" panose="02040503050406030204" pitchFamily="18" charset="0"/>
              </a:rPr>
              <a:t>          2. </a:t>
            </a:r>
            <a:r>
              <a:rPr lang="en-US" altLang="en-GB" sz="4800" dirty="0">
                <a:latin typeface="Cambria" panose="02040503050406030204" pitchFamily="18" charset="0"/>
                <a:ea typeface="Cambria" panose="02040503050406030204" pitchFamily="18" charset="0"/>
              </a:rPr>
              <a:t>Matches disease with database.</a:t>
            </a:r>
          </a:p>
          <a:p>
            <a:pPr marL="381000" lvl="0" indent="-228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AutoNum type="arabicPeriod"/>
            </a:pPr>
            <a:endParaRPr lang="en-US" altLang="en-GB" sz="48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IN" altLang="en-US" sz="4800" dirty="0">
                <a:latin typeface="Cambria" panose="02040503050406030204" pitchFamily="18" charset="0"/>
                <a:ea typeface="Cambria" panose="02040503050406030204" pitchFamily="18" charset="0"/>
              </a:rPr>
              <a:t>          3. </a:t>
            </a:r>
            <a:r>
              <a:rPr lang="en-US" altLang="en-GB" sz="4800" dirty="0">
                <a:latin typeface="Cambria" panose="02040503050406030204" pitchFamily="18" charset="0"/>
                <a:ea typeface="Cambria" panose="02040503050406030204" pitchFamily="18" charset="0"/>
              </a:rPr>
              <a:t>Suggests treatment &amp; preventive care.</a:t>
            </a:r>
          </a:p>
          <a:p>
            <a:pPr marL="342900" lvl="0" indent="-190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endParaRPr lang="en-US" altLang="en-GB" sz="48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altLang="en-GB" sz="4800" b="1" dirty="0">
                <a:latin typeface="Cambria" panose="02040503050406030204" pitchFamily="18" charset="0"/>
                <a:ea typeface="Cambria" panose="02040503050406030204" pitchFamily="18" charset="0"/>
              </a:rPr>
              <a:t>Output</a:t>
            </a:r>
            <a:r>
              <a:rPr lang="en-US" altLang="en-GB" sz="4800" dirty="0">
                <a:latin typeface="Cambria" panose="02040503050406030204" pitchFamily="18" charset="0"/>
                <a:ea typeface="Cambria" panose="02040503050406030204" pitchFamily="18" charset="0"/>
              </a:rPr>
              <a:t>: Disease name, confidence score, treatment recommendation.</a:t>
            </a:r>
          </a:p>
          <a:p>
            <a:pPr marL="342900" lvl="0" indent="-190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endParaRPr lang="en-US" altLang="en-GB" sz="48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altLang="en-GB" sz="4800" b="1" dirty="0">
                <a:latin typeface="Cambria" panose="02040503050406030204" pitchFamily="18" charset="0"/>
                <a:ea typeface="Cambria" panose="02040503050406030204" pitchFamily="18" charset="0"/>
              </a:rPr>
              <a:t>Challenges:</a:t>
            </a:r>
          </a:p>
          <a:p>
            <a:pPr marL="342900" lvl="0" indent="-190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endParaRPr lang="en-US" altLang="en-GB" sz="48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IN" altLang="en-US" sz="4800" dirty="0">
                <a:latin typeface="Cambria" panose="02040503050406030204" pitchFamily="18" charset="0"/>
                <a:ea typeface="Cambria" panose="02040503050406030204" pitchFamily="18" charset="0"/>
              </a:rPr>
              <a:t>            1. </a:t>
            </a:r>
            <a:r>
              <a:rPr lang="en-US" altLang="en-GB" sz="4800" dirty="0">
                <a:latin typeface="Cambria" panose="02040503050406030204" pitchFamily="18" charset="0"/>
                <a:ea typeface="Cambria" panose="02040503050406030204" pitchFamily="18" charset="0"/>
              </a:rPr>
              <a:t>Variation in image quality (lighting, background).</a:t>
            </a:r>
          </a:p>
          <a:p>
            <a:pPr marL="381000" lvl="0" indent="-228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AutoNum type="arabicPeriod"/>
            </a:pPr>
            <a:endParaRPr lang="en-US" altLang="en-GB" sz="48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IN" altLang="en-US" sz="4800" dirty="0">
                <a:latin typeface="Cambria" panose="02040503050406030204" pitchFamily="18" charset="0"/>
                <a:ea typeface="Cambria" panose="02040503050406030204" pitchFamily="18" charset="0"/>
              </a:rPr>
              <a:t>            2. </a:t>
            </a:r>
            <a:r>
              <a:rPr lang="en-US" altLang="en-GB" sz="4800" dirty="0">
                <a:latin typeface="Cambria" panose="02040503050406030204" pitchFamily="18" charset="0"/>
                <a:ea typeface="Cambria" panose="02040503050406030204" pitchFamily="18" charset="0"/>
              </a:rPr>
              <a:t>Availability of disease-specific datasets.</a:t>
            </a:r>
          </a:p>
          <a:p>
            <a:pPr marL="381000" lvl="0" indent="-228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AutoNum type="arabicPeriod"/>
            </a:pPr>
            <a:endParaRPr lang="en-US" altLang="en-GB" sz="48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IN" altLang="en-US" sz="4800" dirty="0">
                <a:latin typeface="Cambria" panose="02040503050406030204" pitchFamily="18" charset="0"/>
                <a:ea typeface="Cambria" panose="02040503050406030204" pitchFamily="18" charset="0"/>
              </a:rPr>
              <a:t>           3.  </a:t>
            </a:r>
            <a:r>
              <a:rPr lang="en-US" altLang="en-GB" sz="4800" dirty="0">
                <a:latin typeface="Cambria" panose="02040503050406030204" pitchFamily="18" charset="0"/>
                <a:ea typeface="Cambria" panose="02040503050406030204" pitchFamily="18" charset="0"/>
              </a:rPr>
              <a:t>Farmer accessibility in rural regions.</a:t>
            </a:r>
          </a:p>
          <a:p>
            <a:pPr marL="342900" lvl="0" indent="-190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7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52400" lvl="0">
              <a:lnSpc>
                <a:spcPct val="200000"/>
              </a:lnSpc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Analysis of Problem Statement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(contd...)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5" name="Google Shape;115;p17"/>
          <p:cNvSpPr txBox="1">
            <a:spLocks noGrp="1"/>
          </p:cNvSpPr>
          <p:nvPr>
            <p:ph type="body" idx="1"/>
          </p:nvPr>
        </p:nvSpPr>
        <p:spPr>
          <a:xfrm>
            <a:off x="812800" y="1143000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25000" lnSpcReduction="20000"/>
          </a:bodyPr>
          <a:lstStyle/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sz="9600" dirty="0">
                <a:latin typeface="Cambria" panose="02040503050406030204" pitchFamily="18" charset="0"/>
                <a:ea typeface="Cambria" panose="02040503050406030204" pitchFamily="18" charset="0"/>
              </a:rPr>
              <a:t>Software and Hardware Requirements: </a:t>
            </a: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GB" sz="7200" b="1" dirty="0">
                <a:latin typeface="Cambria" panose="02040503050406030204" pitchFamily="18" charset="0"/>
                <a:ea typeface="Cambria" panose="02040503050406030204" pitchFamily="18" charset="0"/>
              </a:rPr>
              <a:t>Software Requirements:</a:t>
            </a: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altLang="en-GB" sz="5600" dirty="0">
                <a:latin typeface="Cambria" panose="02040503050406030204" pitchFamily="18" charset="0"/>
                <a:ea typeface="Cambria" panose="02040503050406030204" pitchFamily="18" charset="0"/>
              </a:rPr>
              <a:t>Programming Languages: Python </a:t>
            </a: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altLang="en-GB" sz="5600" dirty="0">
                <a:latin typeface="Cambria" panose="02040503050406030204" pitchFamily="18" charset="0"/>
                <a:ea typeface="Cambria" panose="02040503050406030204" pitchFamily="18" charset="0"/>
              </a:rPr>
              <a:t>Frameworks/Libraries: TensorFlow / Keras, OpenCV, Flask/Django (backend), React.js (frontend)</a:t>
            </a: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altLang="en-GB" sz="5600" dirty="0">
                <a:latin typeface="Cambria" panose="02040503050406030204" pitchFamily="18" charset="0"/>
                <a:ea typeface="Cambria" panose="02040503050406030204" pitchFamily="18" charset="0"/>
              </a:rPr>
              <a:t>Database: MySQL / MongoDB</a:t>
            </a: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altLang="en-GB" sz="5600" dirty="0">
                <a:latin typeface="Cambria" panose="02040503050406030204" pitchFamily="18" charset="0"/>
                <a:ea typeface="Cambria" panose="02040503050406030204" pitchFamily="18" charset="0"/>
              </a:rPr>
              <a:t>Tools/Platforms: Google Colab / Jupyter Notebook (model training), GitHub (version control), Cloud Deployment (AWS / GCP / Heroku)</a:t>
            </a: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GB" sz="7200" b="1" dirty="0">
                <a:latin typeface="Cambria" panose="02040503050406030204" pitchFamily="18" charset="0"/>
                <a:ea typeface="Cambria" panose="02040503050406030204" pitchFamily="18" charset="0"/>
              </a:rPr>
              <a:t>Hardware Requirements:</a:t>
            </a: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altLang="en-GB" sz="5600" dirty="0">
                <a:latin typeface="Cambria" panose="02040503050406030204" pitchFamily="18" charset="0"/>
                <a:ea typeface="Cambria" panose="02040503050406030204" pitchFamily="18" charset="0"/>
              </a:rPr>
              <a:t>Mobile Device: Android Smartphone (for testing mobile app)</a:t>
            </a: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altLang="en-GB" sz="5600" dirty="0">
                <a:latin typeface="Cambria" panose="02040503050406030204" pitchFamily="18" charset="0"/>
                <a:ea typeface="Cambria" panose="02040503050406030204" pitchFamily="18" charset="0"/>
              </a:rPr>
              <a:t>Camera: Standard phone camera for capturing crop images</a:t>
            </a: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GB">
                <a:latin typeface="Cambria" panose="02040503050406030204" pitchFamily="18" charset="0"/>
                <a:cs typeface="Cambria" panose="02040503050406030204" pitchFamily="18" charset="0"/>
              </a:rPr>
              <a:t>Innovation or Novel Contributions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en-GB">
                <a:latin typeface="Cambria" panose="02040503050406030204" pitchFamily="18" charset="0"/>
                <a:cs typeface="Cambria" panose="02040503050406030204" pitchFamily="18" charset="0"/>
              </a:rPr>
              <a:t>Integration of AI disease detection with treatment recommendation system.</a:t>
            </a:r>
          </a:p>
          <a:p>
            <a:endParaRPr lang="en-US" altLang="en-GB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r>
              <a:rPr lang="en-US" altLang="en-GB">
                <a:latin typeface="Cambria" panose="02040503050406030204" pitchFamily="18" charset="0"/>
                <a:cs typeface="Cambria" panose="02040503050406030204" pitchFamily="18" charset="0"/>
              </a:rPr>
              <a:t>Development of a farmer-accessible web platform (and optional mobile app).</a:t>
            </a:r>
          </a:p>
          <a:p>
            <a:endParaRPr lang="en-US" altLang="en-GB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r>
              <a:rPr lang="en-US" altLang="en-GB">
                <a:latin typeface="Cambria" panose="02040503050406030204" pitchFamily="18" charset="0"/>
                <a:cs typeface="Cambria" panose="02040503050406030204" pitchFamily="18" charset="0"/>
              </a:rPr>
              <a:t>Creation of a disease–treatment knowledge base for practical recommendations.</a:t>
            </a:r>
          </a:p>
          <a:p>
            <a:endParaRPr lang="en-US" altLang="en-GB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r>
              <a:rPr lang="en-US" altLang="en-GB">
                <a:latin typeface="Cambria" panose="02040503050406030204" pitchFamily="18" charset="0"/>
                <a:cs typeface="Cambria" panose="02040503050406030204" pitchFamily="18" charset="0"/>
              </a:rPr>
              <a:t>Scalable design that can later integrate real-time environmental data (weather, soil conditions) to predict potential outbreaks.</a:t>
            </a:r>
          </a:p>
          <a:p>
            <a:endParaRPr lang="en-US" altLang="en-GB">
              <a:latin typeface="Cambria" panose="02040503050406030204" pitchFamily="18" charset="0"/>
              <a:cs typeface="Cambria" panose="02040503050406030204" pitchFamily="18" charset="0"/>
            </a:endParaRPr>
          </a:p>
          <a:p>
            <a:r>
              <a:rPr lang="en-US" altLang="en-GB">
                <a:latin typeface="Cambria" panose="02040503050406030204" pitchFamily="18" charset="0"/>
                <a:cs typeface="Cambria" panose="02040503050406030204" pitchFamily="18" charset="0"/>
              </a:rPr>
              <a:t>Focus on ease of use for farmers with limited technical expertise.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7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52400" lvl="0">
              <a:lnSpc>
                <a:spcPct val="200000"/>
              </a:lnSpc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Github Link</a:t>
            </a:r>
          </a:p>
        </p:txBody>
      </p:sp>
      <p:sp>
        <p:nvSpPr>
          <p:cNvPr id="115" name="Google Shape;115;p17"/>
          <p:cNvSpPr txBox="1">
            <a:spLocks noGrp="1"/>
          </p:cNvSpPr>
          <p:nvPr>
            <p:ph type="body" idx="1"/>
          </p:nvPr>
        </p:nvSpPr>
        <p:spPr>
          <a:xfrm>
            <a:off x="812800" y="1143000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1905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Google Shape;115;p17"/>
          <p:cNvSpPr txBox="1"/>
          <p:nvPr/>
        </p:nvSpPr>
        <p:spPr>
          <a:xfrm>
            <a:off x="965200" y="1295400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 b="0" i="0" u="none" strike="noStrik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Char char="–"/>
              <a:defRPr sz="1600" b="0" i="0" u="none" strike="noStrik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Char char="»"/>
              <a:defRPr sz="1600" b="0" i="0" u="none" strike="noStrik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defRPr>
            </a:lvl9pPr>
          </a:lstStyle>
          <a:p>
            <a:pPr marL="342900" indent="-190500" algn="just">
              <a:spcBef>
                <a:spcPts val="0"/>
              </a:spcBef>
              <a:buSzPct val="100000"/>
              <a:buFont typeface="Arial" panose="020B0604020202020204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spcBef>
                <a:spcPts val="0"/>
              </a:spcBef>
              <a:buSzPct val="100000"/>
              <a:buFont typeface="Arial" panose="020B0604020202020204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lnSpc>
                <a:spcPct val="200000"/>
              </a:lnSpc>
              <a:spcBef>
                <a:spcPts val="0"/>
              </a:spcBef>
              <a:buSzPct val="100000"/>
              <a:buFont typeface="Arial" panose="020B0604020202020204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lnSpc>
                <a:spcPct val="200000"/>
              </a:lnSpc>
              <a:spcBef>
                <a:spcPts val="0"/>
              </a:spcBef>
              <a:buSzPct val="100000"/>
              <a:buFont typeface="Arial" panose="020B0604020202020204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lnSpc>
                <a:spcPct val="200000"/>
              </a:lnSpc>
              <a:spcBef>
                <a:spcPts val="0"/>
              </a:spcBef>
              <a:buSzPct val="100000"/>
              <a:buFont typeface="Arial" panose="020B0604020202020204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Google Shape;115;p17"/>
          <p:cNvSpPr txBox="1"/>
          <p:nvPr/>
        </p:nvSpPr>
        <p:spPr>
          <a:xfrm>
            <a:off x="812800" y="1143000"/>
            <a:ext cx="10668000" cy="41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 b="0" i="0" u="none" strike="noStrik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Char char="–"/>
              <a:defRPr sz="1600" b="0" i="0" u="none" strike="noStrik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Char char="»"/>
              <a:defRPr sz="1600" b="0" i="0" u="none" strike="noStrik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defRPr>
            </a:lvl9pPr>
          </a:lstStyle>
          <a:p>
            <a:pPr marL="342900" indent="-190500" algn="just">
              <a:spcBef>
                <a:spcPts val="0"/>
              </a:spcBef>
              <a:buSzPct val="100000"/>
              <a:buFont typeface="Arial" panose="020B0604020202020204"/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The Github link provided should have public access permission.</a:t>
            </a:r>
          </a:p>
          <a:p>
            <a:pPr marL="342900" indent="-190500" algn="just">
              <a:spcBef>
                <a:spcPts val="0"/>
              </a:spcBef>
              <a:buSzPct val="100000"/>
              <a:buFont typeface="Arial" panose="020B0604020202020204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spcBef>
                <a:spcPts val="0"/>
              </a:spcBef>
              <a:buSzPct val="100000"/>
              <a:buFont typeface="Arial" panose="020B0604020202020204"/>
              <a:buNone/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Github Link</a:t>
            </a:r>
          </a:p>
          <a:p>
            <a:pPr marL="342900" indent="-190500" algn="just">
              <a:spcBef>
                <a:spcPts val="0"/>
              </a:spcBef>
              <a:buSzPct val="100000"/>
              <a:buFont typeface="Arial" panose="020B0604020202020204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lnSpc>
                <a:spcPct val="200000"/>
              </a:lnSpc>
              <a:spcBef>
                <a:spcPts val="0"/>
              </a:spcBef>
              <a:buSzPct val="100000"/>
              <a:buFont typeface="Arial" panose="020B0604020202020204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lnSpc>
                <a:spcPct val="200000"/>
              </a:lnSpc>
              <a:spcBef>
                <a:spcPts val="0"/>
              </a:spcBef>
              <a:buSzPct val="100000"/>
              <a:buFont typeface="Arial" panose="020B0604020202020204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lnSpc>
                <a:spcPct val="200000"/>
              </a:lnSpc>
              <a:spcBef>
                <a:spcPts val="0"/>
              </a:spcBef>
              <a:buSzPct val="100000"/>
              <a:buFont typeface="Arial" panose="020B0604020202020204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7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 panose="020B0604030504040204"/>
              <a:buNone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Timeline of the Project (Gantt Chart)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5" name="Google Shape;115;p17"/>
          <p:cNvSpPr txBox="1">
            <a:spLocks noGrp="1"/>
          </p:cNvSpPr>
          <p:nvPr>
            <p:ph type="body" idx="1"/>
          </p:nvPr>
        </p:nvSpPr>
        <p:spPr>
          <a:xfrm>
            <a:off x="812800" y="1143000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1905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aphicFrame>
        <p:nvGraphicFramePr>
          <p:cNvPr id="2" name="Table 1"/>
          <p:cNvGraphicFramePr/>
          <p:nvPr>
            <p:custDataLst>
              <p:tags r:id="rId1"/>
            </p:custDataLst>
          </p:nvPr>
        </p:nvGraphicFramePr>
        <p:xfrm>
          <a:off x="810895" y="1044575"/>
          <a:ext cx="10739120" cy="4599940"/>
        </p:xfrm>
        <a:graphic>
          <a:graphicData uri="http://schemas.openxmlformats.org/drawingml/2006/table">
            <a:tbl>
              <a:tblPr/>
              <a:tblGrid>
                <a:gridCol w="13423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23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23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423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423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4239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4239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423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07340">
                <a:tc>
                  <a:txBody>
                    <a:bodyPr/>
                    <a:lstStyle/>
                    <a:p>
                      <a:endParaRPr lang="en-US" altLang="zh-CN"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1100"/>
                    </a:p>
                  </a:txBody>
                  <a:tcPr marL="0" marR="0" marT="0" marB="0" anchor="ctr">
                    <a:lnL>
                      <a:noFill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endParaRPr lang="en-US" altLang="zh-CN"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endParaRPr lang="en-US" altLang="zh-CN"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4045">
                <a:tc>
                  <a:txBody>
                    <a:bodyPr/>
                    <a:lstStyle/>
                    <a:p>
                      <a:endParaRPr lang="en-US" altLang="zh-CN"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endParaRPr lang="en-US" altLang="zh-CN"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endParaRPr lang="en-US" altLang="zh-CN"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7340">
                <a:tc>
                  <a:txBody>
                    <a:bodyPr/>
                    <a:lstStyle/>
                    <a:p>
                      <a:endParaRPr lang="en-US" altLang="zh-CN"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7340">
                <a:tc>
                  <a:txBody>
                    <a:bodyPr/>
                    <a:lstStyle/>
                    <a:p>
                      <a:endParaRPr lang="en-US" altLang="zh-CN"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endParaRPr lang="en-US" altLang="zh-CN"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1100"/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1100"/>
                    </a:p>
                  </a:txBody>
                  <a:tcPr marL="0" marR="0" marT="0" marB="0" anchor="ctr">
                    <a:lnL>
                      <a:noFill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/>
          <p:nvPr>
            <p:custDataLst>
              <p:tags r:id="rId2"/>
            </p:custDataLst>
          </p:nvPr>
        </p:nvGraphicFramePr>
        <p:xfrm>
          <a:off x="808355" y="1044575"/>
          <a:ext cx="10744200" cy="5050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3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3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3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43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430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430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430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430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71170">
                <a:tc>
                  <a:txBody>
                    <a:bodyPr/>
                    <a:lstStyle/>
                    <a:p>
                      <a:r>
                        <a:rPr lang="en-US" altLang="zh-CN" sz="1100"/>
                        <a:t>Task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altLang="zh-CN" sz="1100"/>
                        <a:t>Week 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altLang="zh-CN" sz="1100"/>
                        <a:t>Week 2–3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altLang="zh-CN" sz="1100"/>
                        <a:t>Week 4–5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altLang="zh-CN" sz="1100"/>
                        <a:t>Week 6–7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altLang="zh-CN" sz="1100"/>
                        <a:t>Week 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altLang="zh-CN" sz="1100"/>
                        <a:t>Week 9–10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altLang="zh-CN" sz="1100"/>
                        <a:t>Week 11–12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9310">
                <a:tc>
                  <a:txBody>
                    <a:bodyPr/>
                    <a:lstStyle/>
                    <a:p>
                      <a:r>
                        <a:rPr lang="en-US" altLang="zh-CN" sz="1100"/>
                        <a:t>Literature Review &amp; Problem Analysis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altLang="zh-CN" sz="1100"/>
                        <a:t>████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665">
                <a:tc>
                  <a:txBody>
                    <a:bodyPr/>
                    <a:lstStyle/>
                    <a:p>
                      <a:r>
                        <a:rPr lang="en-US" altLang="zh-CN" sz="1100"/>
                        <a:t>Dataset Collection &amp; Preprocessing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altLang="zh-CN" sz="1100"/>
                        <a:t>████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altLang="zh-CN" sz="1100"/>
                        <a:t>██████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2300">
                <a:tc>
                  <a:txBody>
                    <a:bodyPr/>
                    <a:lstStyle/>
                    <a:p>
                      <a:r>
                        <a:rPr lang="en-US" altLang="zh-CN" sz="1100"/>
                        <a:t>AI Model Training &amp; Evaluation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altLang="zh-CN" sz="1100"/>
                        <a:t>██████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altLang="zh-CN" sz="1100"/>
                        <a:t>██████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1170">
                <a:tc>
                  <a:txBody>
                    <a:bodyPr/>
                    <a:lstStyle/>
                    <a:p>
                      <a:r>
                        <a:rPr lang="en-US" altLang="zh-CN" sz="1100"/>
                        <a:t>Backend API Development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altLang="zh-CN" sz="1100"/>
                        <a:t>██████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altLang="zh-CN" sz="1100"/>
                        <a:t>████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1170">
                <a:tc>
                  <a:txBody>
                    <a:bodyPr/>
                    <a:lstStyle/>
                    <a:p>
                      <a:r>
                        <a:rPr lang="en-US" altLang="zh-CN" sz="1100"/>
                        <a:t>Web Application Development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altLang="zh-CN" sz="1100"/>
                        <a:t>██████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altLang="zh-CN" sz="1100"/>
                        <a:t>██████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1170">
                <a:tc>
                  <a:txBody>
                    <a:bodyPr/>
                    <a:lstStyle/>
                    <a:p>
                      <a:r>
                        <a:rPr lang="en-US" altLang="zh-CN" sz="1100"/>
                        <a:t>Mobile App (Optional)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altLang="zh-CN" sz="1100"/>
                        <a:t>██████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altLang="zh-CN" sz="1100"/>
                        <a:t>████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1170">
                <a:tc>
                  <a:txBody>
                    <a:bodyPr/>
                    <a:lstStyle/>
                    <a:p>
                      <a:r>
                        <a:rPr lang="en-US" altLang="zh-CN" sz="1100"/>
                        <a:t>Integration &amp; Testing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altLang="zh-CN" sz="1100"/>
                        <a:t>██████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21665">
                <a:tc>
                  <a:txBody>
                    <a:bodyPr/>
                    <a:lstStyle/>
                    <a:p>
                      <a:r>
                        <a:rPr lang="en-US" altLang="zh-CN" sz="1100"/>
                        <a:t>Final Deployment &amp; Documentation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1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altLang="zh-CN" sz="1100"/>
                        <a:t>██████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altLang="zh-CN" sz="1100"/>
                        <a:t>██████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2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References (IEEE Paper format)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5" name="Google Shape;145;p22"/>
          <p:cNvSpPr txBox="1">
            <a:spLocks noGrp="1"/>
          </p:cNvSpPr>
          <p:nvPr>
            <p:ph type="body" idx="1"/>
          </p:nvPr>
        </p:nvSpPr>
        <p:spPr>
          <a:xfrm>
            <a:off x="812800" y="1143001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52400" indent="0">
              <a:spcBef>
                <a:spcPts val="0"/>
              </a:spcBef>
              <a:buNone/>
            </a:pPr>
            <a:r>
              <a:rPr lang="en-US" altLang="en-GB" dirty="0">
                <a:latin typeface="Cambria" panose="02040503050406030204" pitchFamily="18" charset="0"/>
                <a:ea typeface="Cambria" panose="02040503050406030204" pitchFamily="18" charset="0"/>
              </a:rPr>
              <a:t>[1] A. Kumar, B. R. Patel, and C. Zhang, “Plant disease identification using convolutional neural networks,” IEEE Access, vol. 9, pp. 34567–34578, Mar. 2021.</a:t>
            </a:r>
          </a:p>
          <a:p>
            <a:pPr marL="152400" indent="0">
              <a:spcBef>
                <a:spcPts val="0"/>
              </a:spcBef>
              <a:buNone/>
            </a:pPr>
            <a:r>
              <a:rPr lang="en-US" altLang="en-GB" dirty="0">
                <a:latin typeface="Cambria" panose="02040503050406030204" pitchFamily="18" charset="0"/>
                <a:ea typeface="Cambria" panose="02040503050406030204" pitchFamily="18" charset="0"/>
              </a:rPr>
              <a:t>[2] J. Smith, “Deep learning in agricultural systems,” IEEE Transactions on Neural Networks and Learning Systems, vol. 32, no. 7, pp. 1234–1245, Jul. 2021.</a:t>
            </a:r>
          </a:p>
          <a:p>
            <a:pPr marL="152400" indent="0">
              <a:spcBef>
                <a:spcPts val="0"/>
              </a:spcBef>
              <a:buNone/>
            </a:pPr>
            <a:r>
              <a:rPr lang="en-US" altLang="en-GB" dirty="0">
                <a:latin typeface="Cambria" panose="02040503050406030204" pitchFamily="18" charset="0"/>
                <a:ea typeface="Cambria" panose="02040503050406030204" pitchFamily="18" charset="0"/>
              </a:rPr>
              <a:t>[3] S. Mohanty, D. Hughes, and M. Salath</a:t>
            </a:r>
            <a:r>
              <a:rPr lang="en-US" altLang="en-US" dirty="0">
                <a:latin typeface="Cambria" panose="02040503050406030204" pitchFamily="18" charset="0"/>
                <a:ea typeface="Cambria" panose="02040503050406030204" pitchFamily="18" charset="0"/>
              </a:rPr>
              <a:t>é</a:t>
            </a:r>
            <a:r>
              <a:rPr lang="en-US" altLang="en-GB" dirty="0">
                <a:latin typeface="Cambria" panose="02040503050406030204" pitchFamily="18" charset="0"/>
                <a:ea typeface="Cambria" panose="02040503050406030204" pitchFamily="18" charset="0"/>
              </a:rPr>
              <a:t>, “Using deep learning for image-based plant disease detection,” Frontiers in Plant Science, vol. 7, pp. 1419, Oct. 2016.</a:t>
            </a:r>
          </a:p>
          <a:p>
            <a:pPr marL="152400" indent="0">
              <a:spcBef>
                <a:spcPts val="0"/>
              </a:spcBef>
              <a:buNone/>
            </a:pPr>
            <a:r>
              <a:rPr lang="en-US" altLang="en-GB" dirty="0">
                <a:latin typeface="Cambria" panose="02040503050406030204" pitchFamily="18" charset="0"/>
                <a:ea typeface="Cambria" panose="02040503050406030204" pitchFamily="18" charset="0"/>
              </a:rPr>
              <a:t>[4] T. Ferentinos, “Deep learning models for plant disease detection and diagnosis,” Computers and Electronics in Agriculture, vol. 145, pp. 311–318, Feb. 2018.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2811" y="1441315"/>
            <a:ext cx="3893305" cy="3935471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381*152"/>
  <p:tag name="TABLE_ENDDRAG_RECT" val="62*197*381*152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845*362"/>
  <p:tag name="TABLE_ENDDRAG_RECT" val="63*82*845*36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846*397"/>
  <p:tag name="TABLE_ENDDRAG_RECT" val="63*82*846*397"/>
</p:tagLst>
</file>

<file path=ppt/theme/theme1.xml><?xml version="1.0" encoding="utf-8"?>
<a:theme xmlns:a="http://schemas.openxmlformats.org/drawingml/2006/main" name="Bioinformatics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991</Words>
  <Application>Microsoft Office PowerPoint</Application>
  <PresentationFormat>Widescreen</PresentationFormat>
  <Paragraphs>160</Paragraphs>
  <Slides>12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Cambria</vt:lpstr>
      <vt:lpstr>Verdana</vt:lpstr>
      <vt:lpstr>Wingdings</vt:lpstr>
      <vt:lpstr>Bioinformatics</vt:lpstr>
      <vt:lpstr>PROJECT TITLE PSCS_282_AI-Driven Crop Disease Prediction and Management System</vt:lpstr>
      <vt:lpstr>Content</vt:lpstr>
      <vt:lpstr>Problem Statement Number: PSCS_282</vt:lpstr>
      <vt:lpstr>Objectives</vt:lpstr>
      <vt:lpstr>Background and Related Work for Title Selection</vt:lpstr>
      <vt:lpstr>Analysis of Problem Statement</vt:lpstr>
      <vt:lpstr>Analysis of Problem Statement (contd...)</vt:lpstr>
      <vt:lpstr>Innovation or Novel Contributions</vt:lpstr>
      <vt:lpstr>Github Link</vt:lpstr>
      <vt:lpstr>Timeline of the Project (Gantt Chart)</vt:lpstr>
      <vt:lpstr>References (IEEE Paper format)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TITLE</dc:title>
  <dc:creator>Admin</dc:creator>
  <cp:lastModifiedBy>vishnu V</cp:lastModifiedBy>
  <cp:revision>43</cp:revision>
  <dcterms:created xsi:type="dcterms:W3CDTF">2025-08-17T15:01:00Z</dcterms:created>
  <dcterms:modified xsi:type="dcterms:W3CDTF">2025-08-20T01:28:09Z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1933CA36C6E145818B8D4489B887058A_13</vt:lpwstr>
  </property>
  <property fmtid="{D5CDD505-2E9C-101B-9397-08002B2CF9AE}" pid="3" name="KSOProductBuildVer">
    <vt:lpwstr>2057-12.2.0.21936</vt:lpwstr>
  </property>
</Properties>
</file>