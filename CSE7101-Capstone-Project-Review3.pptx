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9" r:id="rId7"/>
    <p:sldId id="280" r:id="rId8"/>
    <p:sldId id="281" r:id="rId9"/>
    <p:sldId id="275" r:id="rId10"/>
    <p:sldId id="276" r:id="rId11"/>
    <p:sldId id="273" r:id="rId12"/>
    <p:sldId id="288" r:id="rId13"/>
    <p:sldId id="272" r:id="rId14"/>
    <p:sldId id="277" r:id="rId15"/>
    <p:sldId id="283" r:id="rId16"/>
    <p:sldId id="282" r:id="rId17"/>
    <p:sldId id="285" r:id="rId18"/>
    <p:sldId id="286" r:id="rId19"/>
    <p:sldId id="268" r:id="rId20"/>
    <p:sldId id="270" r:id="rId21"/>
    <p:sldId id="265" r:id="rId22"/>
    <p:sldId id="26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GB" sz="2400" dirty="0">
                <a:solidFill>
                  <a:schemeClr val="tx1"/>
                </a:solidFill>
                <a:latin typeface="Cambria" panose="02040503050406030204" pitchFamily="18" charset="0"/>
                <a:ea typeface="Cambria" panose="02040503050406030204" pitchFamily="18" charset="0"/>
              </a:rPr>
              <a:t>PROJECT TITLE</a:t>
            </a:r>
            <a:br>
              <a:rPr lang="en-GB" sz="2400" dirty="0">
                <a:solidFill>
                  <a:schemeClr val="tx1"/>
                </a:solidFill>
                <a:latin typeface="Cambria" panose="02040503050406030204" pitchFamily="18" charset="0"/>
                <a:ea typeface="Cambria" panose="02040503050406030204" pitchFamily="18" charset="0"/>
              </a:rPr>
            </a:br>
            <a:r>
              <a:rPr lang="en-US" altLang="en-GB" sz="2400" dirty="0">
                <a:solidFill>
                  <a:schemeClr val="tx1"/>
                </a:solidFill>
                <a:latin typeface="Cambria" panose="02040503050406030204" pitchFamily="18" charset="0"/>
                <a:ea typeface="Cambria" panose="02040503050406030204" pitchFamily="18" charset="0"/>
              </a:rPr>
              <a:t>PSCS_282_AI-Driven Crop Disease Prediction and Management System</a:t>
            </a:r>
            <a:endParaRPr lang="en-US" altLang="en-GB"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a:t>
            </a:r>
            <a:r>
              <a:rPr lang="en-US" altLang="en-GB" sz="1800" dirty="0">
                <a:latin typeface="Cambria" panose="02040503050406030204" pitchFamily="18" charset="0"/>
                <a:ea typeface="Cambria" panose="02040503050406030204" pitchFamily="18" charset="0"/>
              </a:rPr>
              <a:t>COM_22</a:t>
            </a:r>
            <a:endParaRPr lang="en-US" altLang="en-GB"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r>
              <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40"/>
              </a:spcBef>
              <a:spcAft>
                <a:spcPts val="0"/>
              </a:spcAft>
              <a:buClr>
                <a:srgbClr val="17365D"/>
              </a:buClr>
              <a:buSzPts val="1700"/>
              <a:buFont typeface="Arial" panose="020B0604020202020204"/>
              <a:buNone/>
            </a:pPr>
            <a:r>
              <a:rPr lang="en-US" altLang="en-GB" sz="1800" b="1" dirty="0">
                <a:solidFill>
                  <a:schemeClr val="tx1"/>
                </a:solidFill>
                <a:latin typeface="Cambria" panose="02040503050406030204" pitchFamily="18" charset="0"/>
                <a:ea typeface="Cambria" panose="02040503050406030204" pitchFamily="18" charset="0"/>
                <a:sym typeface="+mn-ea"/>
              </a:rPr>
              <a:t>Mr.Muthuraju V</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IN"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3</a:t>
            </a:r>
            <a:endPar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a:gradFill>
                  <a:gsLst>
                    <a:gs pos="50000">
                      <a:schemeClr val="tx1"/>
                    </a:gs>
                    <a:gs pos="0">
                      <a:schemeClr val="tx1">
                        <a:lumMod val="25000"/>
                        <a:lumOff val="75000"/>
                      </a:schemeClr>
                    </a:gs>
                    <a:gs pos="100000">
                      <a:schemeClr val="tx1">
                        <a:lumMod val="85000"/>
                      </a:schemeClr>
                    </a:gs>
                  </a:gsLst>
                  <a:lin ang="5400000" scaled="1"/>
                </a:gradFill>
                <a:latin typeface="Cambria" panose="02040503050406030204" pitchFamily="18" charset="0"/>
                <a:ea typeface="Cambria" panose="02040503050406030204" pitchFamily="18" charset="0"/>
                <a:cs typeface="Verdana" panose="020B0604030504040204"/>
                <a:sym typeface="Verdana" panose="020B0604030504040204"/>
              </a:rPr>
              <a:t>B.Tech(Computer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alt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Pallavi R  </a:t>
            </a:r>
            <a:endParaRPr lang="en-US" altLang="en-GB"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alt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Benitha Christinal J </a:t>
            </a:r>
            <a:endParaRPr lang="en-US" alt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9" name="Table 8"/>
          <p:cNvGraphicFramePr/>
          <p:nvPr>
            <p:custDataLst>
              <p:tags r:id="rId1"/>
            </p:custDataLst>
          </p:nvPr>
        </p:nvGraphicFramePr>
        <p:xfrm>
          <a:off x="732790" y="2513330"/>
          <a:ext cx="4840605" cy="1940560"/>
        </p:xfrm>
        <a:graphic>
          <a:graphicData uri="http://schemas.openxmlformats.org/drawingml/2006/table">
            <a:tbl>
              <a:tblPr firstRow="1" bandRow="1">
                <a:tableStyleId>{5C22544A-7EE6-4342-B048-85BDC9FD1C3A}</a:tableStyleId>
              </a:tblPr>
              <a:tblGrid>
                <a:gridCol w="2529840"/>
                <a:gridCol w="2310765"/>
              </a:tblGrid>
              <a:tr h="485140">
                <a:tc>
                  <a:txBody>
                    <a:bodyPr/>
                    <a:lstStyle/>
                    <a:p>
                      <a:r>
                        <a:rPr lang="en-US" altLang="zh-CN" sz="1100"/>
                        <a:t>Roll Number</a:t>
                      </a:r>
                      <a:endParaRPr lang="en-US" altLang="zh-CN" sz="1100"/>
                    </a:p>
                  </a:txBody>
                  <a:tcPr marL="0" marR="0" marT="0" marB="0" anchor="ctr"/>
                </a:tc>
                <a:tc>
                  <a:txBody>
                    <a:bodyPr/>
                    <a:lstStyle/>
                    <a:p>
                      <a:r>
                        <a:rPr lang="en-US" altLang="zh-CN" sz="1100"/>
                        <a:t>Student Name</a:t>
                      </a:r>
                      <a:endParaRPr lang="en-US" altLang="zh-CN" sz="1100"/>
                    </a:p>
                  </a:txBody>
                  <a:tcPr marL="0" marR="0" marT="0" marB="0" anchor="ctr"/>
                </a:tc>
              </a:tr>
              <a:tr h="485140">
                <a:tc>
                  <a:txBody>
                    <a:bodyPr/>
                    <a:lstStyle/>
                    <a:p>
                      <a:r>
                        <a:rPr lang="en-US" altLang="zh-CN" sz="1100"/>
                        <a:t>20221COM0084</a:t>
                      </a:r>
                      <a:endParaRPr lang="en-US" altLang="zh-CN" sz="1100"/>
                    </a:p>
                  </a:txBody>
                  <a:tcPr marL="0" marR="0" marT="0" marB="0" anchor="ctr"/>
                </a:tc>
                <a:tc>
                  <a:txBody>
                    <a:bodyPr/>
                    <a:lstStyle/>
                    <a:p>
                      <a:r>
                        <a:rPr lang="en-US" altLang="zh-CN" sz="1100"/>
                        <a:t>Vishnu M</a:t>
                      </a:r>
                      <a:endParaRPr lang="en-US" altLang="zh-CN" sz="1100"/>
                    </a:p>
                  </a:txBody>
                  <a:tcPr marL="0" marR="0" marT="0" marB="0" anchor="ctr"/>
                </a:tc>
              </a:tr>
              <a:tr h="485140">
                <a:tc>
                  <a:txBody>
                    <a:bodyPr/>
                    <a:lstStyle/>
                    <a:p>
                      <a:r>
                        <a:rPr lang="en-US" altLang="zh-CN" sz="1100"/>
                        <a:t>20221COM0096</a:t>
                      </a:r>
                      <a:endParaRPr lang="en-US" altLang="zh-CN" sz="1100"/>
                    </a:p>
                  </a:txBody>
                  <a:tcPr marL="0" marR="0" marT="0" marB="0" anchor="ctr"/>
                </a:tc>
                <a:tc>
                  <a:txBody>
                    <a:bodyPr/>
                    <a:lstStyle/>
                    <a:p>
                      <a:r>
                        <a:rPr lang="en-US" altLang="zh-CN" sz="1100"/>
                        <a:t>R Akash</a:t>
                      </a:r>
                      <a:endParaRPr lang="en-US" altLang="zh-CN" sz="1100"/>
                    </a:p>
                  </a:txBody>
                  <a:tcPr marL="0" marR="0" marT="0" marB="0" anchor="ctr"/>
                </a:tc>
              </a:tr>
              <a:tr h="485140">
                <a:tc>
                  <a:txBody>
                    <a:bodyPr/>
                    <a:lstStyle/>
                    <a:p>
                      <a:r>
                        <a:rPr lang="en-US" altLang="zh-CN" sz="1100"/>
                        <a:t>20221COM0099</a:t>
                      </a:r>
                      <a:endParaRPr lang="en-US" altLang="zh-CN" sz="1100"/>
                    </a:p>
                  </a:txBody>
                  <a:tcPr marL="0" marR="0" marT="0" marB="0" anchor="ctr"/>
                </a:tc>
                <a:tc>
                  <a:txBody>
                    <a:bodyPr/>
                    <a:lstStyle/>
                    <a:p>
                      <a:r>
                        <a:rPr lang="en-US" altLang="zh-CN" sz="1100"/>
                        <a:t>Jagadish T S</a:t>
                      </a:r>
                      <a:endParaRPr lang="en-US" altLang="zh-CN" sz="1100"/>
                    </a:p>
                  </a:txBody>
                  <a:tcPr marL="0" marR="0" marT="0" marB="0"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762000"/>
            <a:ext cx="10456545" cy="5506720"/>
          </a:xfrm>
          <a:prstGeom prst="rect">
            <a:avLst/>
          </a:prstGeom>
          <a:noFill/>
          <a:ln>
            <a:noFill/>
          </a:ln>
        </p:spPr>
        <p:txBody>
          <a:bodyPr spcFirstLastPara="1" wrap="square" lIns="91425" tIns="45700" rIns="91425" bIns="45700" anchor="t" anchorCtr="0">
            <a:normAutofit fontScale="25000" lnSpcReduction="20000"/>
          </a:bodyPr>
          <a:lstStyle/>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GB" sz="6400" b="1" dirty="0">
                <a:latin typeface="Cambria" panose="02040503050406030204" pitchFamily="18" charset="0"/>
                <a:ea typeface="Cambria" panose="02040503050406030204" pitchFamily="18" charset="0"/>
                <a:sym typeface="+mn-ea"/>
              </a:rPr>
              <a:t>Problem Statement </a:t>
            </a:r>
            <a:r>
              <a:rPr lang="en-IN" altLang="en-GB" sz="6400" b="1" dirty="0">
                <a:latin typeface="Cambria" panose="02040503050406030204" pitchFamily="18" charset="0"/>
                <a:ea typeface="Cambria" panose="02040503050406030204" pitchFamily="18" charset="0"/>
                <a:sym typeface="+mn-ea"/>
              </a:rPr>
              <a:t>&amp; </a:t>
            </a:r>
            <a:r>
              <a:rPr lang="en-GB" sz="6400" b="1" dirty="0">
                <a:latin typeface="Cambria" panose="02040503050406030204" pitchFamily="18" charset="0"/>
                <a:ea typeface="Cambria" panose="02040503050406030204" pitchFamily="18" charset="0"/>
                <a:sym typeface="+mn-ea"/>
              </a:rPr>
              <a:t>Number</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Abstract</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Literature Survey</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Objectives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Existing Methods and Drawbacks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Proposed Method &amp; Feasibility Study</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Architecture Diagram</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Modules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Hardware and Software Details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Timeline (Gantt Chart)</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References</a:t>
            </a:r>
            <a:endParaRPr lang="en-US" altLang="en-GB" sz="6400" b="1"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Problem Statement Number: </a:t>
            </a:r>
            <a:r>
              <a:rPr lang="en-US" altLang="en-GB" dirty="0">
                <a:latin typeface="Cambria" panose="02040503050406030204" pitchFamily="18" charset="0"/>
                <a:ea typeface="Cambria" panose="02040503050406030204" pitchFamily="18" charset="0"/>
              </a:rPr>
              <a:t>PSCS_282</a:t>
            </a:r>
            <a:endParaRPr lang="en-US" altLang="en-GB"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62000" y="383540"/>
            <a:ext cx="10668000" cy="4953000"/>
          </a:xfrm>
          <a:prstGeom prst="rect">
            <a:avLst/>
          </a:prstGeom>
          <a:noFill/>
          <a:ln>
            <a:noFill/>
          </a:ln>
        </p:spPr>
        <p:txBody>
          <a:bodyPr spcFirstLastPara="1" wrap="square" lIns="91425" tIns="45700" rIns="91425" bIns="45700" anchor="ctr" anchorCtr="0">
            <a:normAutofit/>
          </a:bodyPr>
          <a:lstStyle/>
          <a:p>
            <a:pPr marL="438150" lvl="0" indent="-285750" algn="just">
              <a:spcBef>
                <a:spcPts val="0"/>
              </a:spcBef>
            </a:pPr>
            <a:r>
              <a:rPr lang="en-US" sz="1600" b="1" dirty="0">
                <a:latin typeface="Cambria" panose="02040503050406030204" pitchFamily="18" charset="0"/>
                <a:ea typeface="Cambria" panose="02040503050406030204" pitchFamily="18" charset="0"/>
              </a:rPr>
              <a:t>Organization</a:t>
            </a:r>
            <a:r>
              <a:rPr 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Presidency University – School of Computer Science and Engineering</a:t>
            </a:r>
            <a:endParaRPr lang="en-US" altLang="en-GB" sz="1600" dirty="0">
              <a:latin typeface="Cambria" panose="02040503050406030204" pitchFamily="18" charset="0"/>
              <a:ea typeface="Cambria" panose="02040503050406030204" pitchFamily="18" charset="0"/>
            </a:endParaRPr>
          </a:p>
          <a:p>
            <a:pPr marL="438150" lvl="0" indent="-285750" algn="just">
              <a:lnSpc>
                <a:spcPct val="200000"/>
              </a:lnSpc>
              <a:spcBef>
                <a:spcPts val="0"/>
              </a:spcBef>
            </a:pPr>
            <a:r>
              <a:rPr lang="en-US" sz="1600" b="1" dirty="0">
                <a:latin typeface="Cambria" panose="02040503050406030204" pitchFamily="18" charset="0"/>
                <a:ea typeface="Cambria" panose="02040503050406030204" pitchFamily="18" charset="0"/>
              </a:rPr>
              <a:t>Category (Hardware / Software / Both) :</a:t>
            </a:r>
            <a:r>
              <a:rPr lang="en-IN" altLang="en-US" sz="1600"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sym typeface="+mn-ea"/>
              </a:rPr>
              <a:t>Software</a:t>
            </a:r>
            <a:endParaRPr lang="en-US" sz="1600" dirty="0">
              <a:latin typeface="Cambria" panose="02040503050406030204" pitchFamily="18" charset="0"/>
              <a:ea typeface="Cambria" panose="02040503050406030204" pitchFamily="18" charset="0"/>
            </a:endParaRPr>
          </a:p>
          <a:p>
            <a:pPr marL="438150" lvl="0" indent="-285750" algn="just">
              <a:lnSpc>
                <a:spcPct val="200000"/>
              </a:lnSpc>
              <a:spcBef>
                <a:spcPts val="0"/>
              </a:spcBef>
            </a:pPr>
            <a:r>
              <a:rPr lang="en-US" sz="1600" b="1" dirty="0">
                <a:latin typeface="Cambria" panose="02040503050406030204" pitchFamily="18" charset="0"/>
                <a:ea typeface="Cambria" panose="02040503050406030204" pitchFamily="18" charset="0"/>
              </a:rPr>
              <a:t>Problem Description:</a:t>
            </a:r>
            <a:r>
              <a:rPr lang="en-IN" altLang="en-US" sz="1600" dirty="0">
                <a:latin typeface="Cambria" panose="02040503050406030204" pitchFamily="18" charset="0"/>
                <a:ea typeface="Cambria" panose="02040503050406030204" pitchFamily="18" charset="0"/>
              </a:rPr>
              <a:t> </a:t>
            </a:r>
            <a:endParaRPr lang="en-IN" altLang="en-US" sz="1600" dirty="0">
              <a:latin typeface="Cambria" panose="02040503050406030204" pitchFamily="18" charset="0"/>
              <a:ea typeface="Cambria" panose="02040503050406030204" pitchFamily="18" charset="0"/>
            </a:endParaRPr>
          </a:p>
          <a:p>
            <a:pPr marL="152400" lvl="0" indent="0" algn="just">
              <a:lnSpc>
                <a:spcPct val="110000"/>
              </a:lnSpc>
              <a:spcBef>
                <a:spcPts val="0"/>
              </a:spcBef>
              <a:buNone/>
            </a:pPr>
            <a:r>
              <a:rPr lang="en-US" altLang="en-GB" sz="1600" dirty="0">
                <a:latin typeface="Cambria" panose="02040503050406030204" pitchFamily="18" charset="0"/>
                <a:ea typeface="Cambria" panose="02040503050406030204" pitchFamily="18" charset="0"/>
              </a:rPr>
              <a:t>         Background: Crop diseases can devastate yields, leading to significant financial </a:t>
            </a:r>
            <a:endParaRPr lang="en-US" altLang="en-GB" sz="1600" dirty="0">
              <a:latin typeface="Cambria" panose="02040503050406030204" pitchFamily="18" charset="0"/>
              <a:ea typeface="Cambria" panose="02040503050406030204" pitchFamily="18" charset="0"/>
            </a:endParaRPr>
          </a:p>
          <a:p>
            <a:pPr marL="342900" lvl="0" indent="-190500" algn="just">
              <a:lnSpc>
                <a:spcPct val="110000"/>
              </a:lnSpc>
              <a:spcBef>
                <a:spcPts val="0"/>
              </a:spcBef>
              <a:buNone/>
            </a:pP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losses for farmers. Early detection and timely intervention are crucial for effective</a:t>
            </a: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 </a:t>
            </a:r>
            <a:endParaRPr lang="en-US" altLang="en-GB" sz="1600" dirty="0">
              <a:latin typeface="Cambria" panose="02040503050406030204" pitchFamily="18" charset="0"/>
              <a:ea typeface="Cambria" panose="02040503050406030204" pitchFamily="18" charset="0"/>
            </a:endParaRPr>
          </a:p>
          <a:p>
            <a:pPr marL="342900" lvl="0" indent="-190500" algn="just">
              <a:lnSpc>
                <a:spcPct val="110000"/>
              </a:lnSpc>
              <a:spcBef>
                <a:spcPts val="0"/>
              </a:spcBef>
              <a:buNone/>
            </a:pP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management. Description: Develop an AI-driven system that analyzes crop images </a:t>
            </a:r>
            <a:endParaRPr lang="en-US" altLang="en-GB" sz="1600" dirty="0">
              <a:latin typeface="Cambria" panose="02040503050406030204" pitchFamily="18" charset="0"/>
              <a:ea typeface="Cambria" panose="02040503050406030204" pitchFamily="18" charset="0"/>
            </a:endParaRPr>
          </a:p>
          <a:p>
            <a:pPr marL="342900" lvl="0" indent="-190500" algn="just">
              <a:lnSpc>
                <a:spcPct val="110000"/>
              </a:lnSpc>
              <a:spcBef>
                <a:spcPts val="0"/>
              </a:spcBef>
              <a:buNone/>
            </a:pP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and environmental data to predict potential disease outbreaks. This system will </a:t>
            </a:r>
            <a:endParaRPr lang="en-US" altLang="en-GB" sz="1600" dirty="0">
              <a:latin typeface="Cambria" panose="02040503050406030204" pitchFamily="18" charset="0"/>
              <a:ea typeface="Cambria" panose="02040503050406030204" pitchFamily="18" charset="0"/>
            </a:endParaRPr>
          </a:p>
          <a:p>
            <a:pPr marL="342900" lvl="0" indent="-190500" algn="just">
              <a:lnSpc>
                <a:spcPct val="110000"/>
              </a:lnSpc>
              <a:spcBef>
                <a:spcPts val="0"/>
              </a:spcBef>
              <a:buNone/>
            </a:pP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provide farmers with actionable insights and treatment recommendations to </a:t>
            </a:r>
            <a:endParaRPr lang="en-US" altLang="en-GB" sz="1600" dirty="0">
              <a:latin typeface="Cambria" panose="02040503050406030204" pitchFamily="18" charset="0"/>
              <a:ea typeface="Cambria" panose="02040503050406030204" pitchFamily="18" charset="0"/>
            </a:endParaRPr>
          </a:p>
          <a:p>
            <a:pPr marL="342900" lvl="0" indent="-190500" algn="just">
              <a:lnSpc>
                <a:spcPct val="110000"/>
              </a:lnSpc>
              <a:spcBef>
                <a:spcPts val="0"/>
              </a:spcBef>
              <a:buNone/>
            </a:pP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mitigate risks. Expected Solution: A mobile and web-based application that utilizes </a:t>
            </a:r>
            <a:endParaRPr lang="en-US" altLang="en-GB" sz="1600" dirty="0">
              <a:latin typeface="Cambria" panose="02040503050406030204" pitchFamily="18" charset="0"/>
              <a:ea typeface="Cambria" panose="02040503050406030204" pitchFamily="18" charset="0"/>
            </a:endParaRPr>
          </a:p>
          <a:p>
            <a:pPr marL="342900" lvl="0" indent="-190500" algn="just">
              <a:lnSpc>
                <a:spcPct val="110000"/>
              </a:lnSpc>
              <a:spcBef>
                <a:spcPts val="0"/>
              </a:spcBef>
              <a:buNone/>
            </a:pP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machine learning algorithms to identify crop diseases and suggest preventive </a:t>
            </a:r>
            <a:endParaRPr lang="en-US" altLang="en-GB" sz="1600" dirty="0">
              <a:latin typeface="Cambria" panose="02040503050406030204" pitchFamily="18" charset="0"/>
              <a:ea typeface="Cambria" panose="02040503050406030204" pitchFamily="18" charset="0"/>
            </a:endParaRPr>
          </a:p>
          <a:p>
            <a:pPr marL="342900" lvl="0" indent="-190500" algn="just">
              <a:lnSpc>
                <a:spcPct val="110000"/>
              </a:lnSpc>
              <a:spcBef>
                <a:spcPts val="0"/>
              </a:spcBef>
              <a:buNone/>
            </a:pPr>
            <a:r>
              <a:rPr lang="en-IN" altLang="en-US" sz="1600" dirty="0">
                <a:latin typeface="Cambria" panose="02040503050406030204" pitchFamily="18" charset="0"/>
                <a:ea typeface="Cambria" panose="02040503050406030204" pitchFamily="18" charset="0"/>
              </a:rPr>
              <a:t>         </a:t>
            </a:r>
            <a:r>
              <a:rPr lang="en-US" altLang="en-GB" sz="1600" dirty="0">
                <a:latin typeface="Cambria" panose="02040503050406030204" pitchFamily="18" charset="0"/>
                <a:ea typeface="Cambria" panose="02040503050406030204" pitchFamily="18" charset="0"/>
              </a:rPr>
              <a:t>measures and treatments based on real-time data.</a:t>
            </a:r>
            <a:endParaRPr lang="en-US" altLang="en-GB" sz="16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sym typeface="+mn-ea"/>
              </a:rPr>
              <a:t>Abstract</a:t>
            </a:r>
            <a:endParaRPr lang="en-GB" altLang="en-US"/>
          </a:p>
        </p:txBody>
      </p:sp>
      <p:sp>
        <p:nvSpPr>
          <p:cNvPr id="3" name="Text Placeholder 2"/>
          <p:cNvSpPr>
            <a:spLocks noGrp="1"/>
          </p:cNvSpPr>
          <p:nvPr>
            <p:ph type="body" idx="1"/>
          </p:nvPr>
        </p:nvSpPr>
        <p:spPr/>
        <p:txBody>
          <a:bodyPr>
            <a:normAutofit lnSpcReduction="10000"/>
          </a:bodyPr>
          <a:lstStyle/>
          <a:p>
            <a:pPr marL="76200" indent="0" algn="just">
              <a:buNone/>
            </a:pPr>
            <a:r>
              <a:rPr lang="en-US" altLang="en-GB" sz="1800" dirty="0">
                <a:latin typeface="Calibri" panose="020F0502020204030204" charset="0"/>
                <a:cs typeface="Calibri" panose="020F0502020204030204" charset="0"/>
              </a:rPr>
              <a:t>This project presents an AI-Driven Crop Disease Prediction Mobile Application designed to assist farmers in monitoring plant health and improving agricultural productivity. The app is developed using React Native (frontend), FastAPI (backend), Supabase (authentication &amp; storage), and Google Gemini AI (intelligent recommendations), with additional integration of the OpenWeather API for contextual weather insights.The system enables users to sign up, capture or upload crop images, and receive real-time disease predictions from a trained machine learning model hosted on FastAPI. Supabase manages user authentication, profiles, and prediction history. Weather data is fetched to provide environment-aware insights, while Gemini AI generates natural language suggestions for both disease treatment and preventive measures for healthy crops. A PDF report feature allows farmers to download and share results offline, and an AI-powered chat assistant offers personalized crop health guidance.The workflow involves image upload </a:t>
            </a:r>
            <a:r>
              <a:rPr lang="en-US" altLang="en-US" sz="1800" dirty="0">
                <a:latin typeface="Calibri" panose="020F0502020204030204" charset="0"/>
                <a:cs typeface="Calibri" panose="020F0502020204030204" charset="0"/>
              </a:rPr>
              <a:t>→</a:t>
            </a:r>
            <a:r>
              <a:rPr lang="en-US" altLang="en-GB" sz="1800" dirty="0">
                <a:latin typeface="Calibri" panose="020F0502020204030204" charset="0"/>
                <a:cs typeface="Calibri" panose="020F0502020204030204" charset="0"/>
              </a:rPr>
              <a:t> ML prediction </a:t>
            </a:r>
            <a:r>
              <a:rPr lang="en-US" altLang="en-US" sz="1800" dirty="0">
                <a:latin typeface="Calibri" panose="020F0502020204030204" charset="0"/>
                <a:cs typeface="Calibri" panose="020F0502020204030204" charset="0"/>
              </a:rPr>
              <a:t>→</a:t>
            </a:r>
            <a:r>
              <a:rPr lang="en-US" altLang="en-GB" sz="1800" dirty="0">
                <a:latin typeface="Calibri" panose="020F0502020204030204" charset="0"/>
                <a:cs typeface="Calibri" panose="020F0502020204030204" charset="0"/>
              </a:rPr>
              <a:t> weather retrieval</a:t>
            </a:r>
            <a:r>
              <a:rPr lang="en-US" altLang="en-US" sz="1800" dirty="0">
                <a:latin typeface="Calibri" panose="020F0502020204030204" charset="0"/>
                <a:cs typeface="Calibri" panose="020F0502020204030204" charset="0"/>
              </a:rPr>
              <a:t>→</a:t>
            </a:r>
            <a:r>
              <a:rPr lang="en-US" altLang="en-GB" sz="1800" dirty="0">
                <a:latin typeface="Calibri" panose="020F0502020204030204" charset="0"/>
                <a:cs typeface="Calibri" panose="020F0502020204030204" charset="0"/>
              </a:rPr>
              <a:t> AI-based suggestions </a:t>
            </a:r>
            <a:r>
              <a:rPr lang="en-US" altLang="en-US" sz="1800" dirty="0">
                <a:latin typeface="Calibri" panose="020F0502020204030204" charset="0"/>
                <a:cs typeface="Calibri" panose="020F0502020204030204" charset="0"/>
              </a:rPr>
              <a:t>→</a:t>
            </a:r>
            <a:r>
              <a:rPr lang="en-US" altLang="en-GB" sz="1800" dirty="0">
                <a:latin typeface="Calibri" panose="020F0502020204030204" charset="0"/>
                <a:cs typeface="Calibri" panose="020F0502020204030204" charset="0"/>
              </a:rPr>
              <a:t> report generation, ensuring a seamless user experience. This integrated pipeline makes advanced agricultural technology accessible to farmers, promoting smart farming, early disease detection, and sustainable crop management.</a:t>
            </a:r>
            <a:endParaRPr lang="en-US" altLang="en-GB" sz="1800" dirty="0">
              <a:latin typeface="Calibri" panose="020F0502020204030204" charset="0"/>
              <a:cs typeface="Calibri" panose="020F0502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44" y="274638"/>
            <a:ext cx="10651455" cy="444872"/>
          </a:xfrm>
        </p:spPr>
        <p:txBody>
          <a:bodyPr/>
          <a:lstStyle/>
          <a:p>
            <a:pPr algn="just"/>
            <a:r>
              <a:rPr lang="en-US" altLang="en-GB"/>
              <a:t>Literature Survey</a:t>
            </a:r>
            <a:endParaRPr lang="en-US" altLang="en-GB"/>
          </a:p>
        </p:txBody>
      </p:sp>
      <p:sp>
        <p:nvSpPr>
          <p:cNvPr id="3" name="Text Placeholder 2"/>
          <p:cNvSpPr>
            <a:spLocks noGrp="1"/>
          </p:cNvSpPr>
          <p:nvPr>
            <p:ph type="body" idx="1"/>
          </p:nvPr>
        </p:nvSpPr>
        <p:spPr>
          <a:xfrm>
            <a:off x="828674" y="923290"/>
            <a:ext cx="10220325" cy="4572635"/>
          </a:xfrm>
        </p:spPr>
        <p:txBody>
          <a:bodyPr>
            <a:noAutofit/>
          </a:bodyPr>
          <a:lstStyle/>
          <a:p>
            <a:pPr marL="76200" indent="0" algn="just">
              <a:buNone/>
            </a:pPr>
            <a:r>
              <a:rPr lang="en-US" altLang="en-GB" sz="1500" dirty="0">
                <a:latin typeface="Calibri" panose="020F0502020204030204" charset="0"/>
                <a:cs typeface="Calibri" panose="020F0502020204030204" charset="0"/>
              </a:rPr>
              <a:t>1) Mohanty et al. (2016) – Deep Learning for Plant Disease Detection</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CNN on </a:t>
            </a:r>
            <a:r>
              <a:rPr lang="en-US" altLang="en-GB" sz="1500" dirty="0" err="1">
                <a:latin typeface="Calibri" panose="020F0502020204030204" charset="0"/>
                <a:cs typeface="Calibri" panose="020F0502020204030204" charset="0"/>
              </a:rPr>
              <a:t>PlantVillage</a:t>
            </a:r>
            <a:r>
              <a:rPr lang="en-US" altLang="en-GB" sz="1500" dirty="0">
                <a:latin typeface="Calibri" panose="020F0502020204030204" charset="0"/>
                <a:cs typeface="Calibri" panose="020F0502020204030204" charset="0"/>
              </a:rPr>
              <a:t> dataset (54k images), ~99% accuracy under lab conditions.</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Poor field performance; no severity or treatment support.</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2) Ferentinos (2018) – Deep CNN Benchmark</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Compared CNNs (</a:t>
            </a:r>
            <a:r>
              <a:rPr lang="en-US" altLang="en-GB" sz="1500" dirty="0" err="1">
                <a:latin typeface="Calibri" panose="020F0502020204030204" charset="0"/>
                <a:cs typeface="Calibri" panose="020F0502020204030204" charset="0"/>
              </a:rPr>
              <a:t>ResNet</a:t>
            </a:r>
            <a:r>
              <a:rPr lang="en-US" altLang="en-GB" sz="1500" dirty="0">
                <a:latin typeface="Calibri" panose="020F0502020204030204" charset="0"/>
                <a:cs typeface="Calibri" panose="020F0502020204030204" charset="0"/>
              </a:rPr>
              <a:t>, Inception, </a:t>
            </a:r>
            <a:r>
              <a:rPr lang="en-US" altLang="en-GB" sz="1500" dirty="0" err="1">
                <a:latin typeface="Calibri" panose="020F0502020204030204" charset="0"/>
                <a:cs typeface="Calibri" panose="020F0502020204030204" charset="0"/>
              </a:rPr>
              <a:t>DenseNet</a:t>
            </a:r>
            <a:r>
              <a:rPr lang="en-US" altLang="en-GB" sz="1500" dirty="0">
                <a:latin typeface="Calibri" panose="020F0502020204030204" charset="0"/>
                <a:cs typeface="Calibri" panose="020F0502020204030204" charset="0"/>
              </a:rPr>
              <a:t>) for crop diseases.</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Only classification accuracy; not field-deployable.</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3) Khan et al. (2023) – Edge Deployment</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Lightweight CNNs with pruning/quantization for mobile.</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Ignores noisy field images &amp; rural connectivity issues.</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4) Ding et al. (2023) – Prescription Recommendation</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Embedding-based retrieval system for treatment guidance.</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Effectiveness depends on pesticide DB coverage.</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5) Bedi et al. (2024) – PDSE-Lite (Severity Estimation)</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Segmentation to estimate disease severity (% infected pixels).</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Struggles with occlusion &amp; multi-leaf field images.</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6) Wu et al. (2023) – Domain Adaptation</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Field-style augmentation + unsupervised adaptation.</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Complex; performance gain depends on dataset similarity.</a:t>
            </a:r>
            <a:endParaRPr lang="en-US" altLang="en-GB" sz="1500" dirty="0">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sym typeface="+mn-ea"/>
              </a:rPr>
              <a:t>Literature Survey</a:t>
            </a:r>
            <a:r>
              <a:rPr lang="en-US" dirty="0">
                <a:latin typeface="Cambria" panose="02040503050406030204" pitchFamily="18" charset="0"/>
                <a:ea typeface="Cambria" panose="02040503050406030204" pitchFamily="18" charset="0"/>
                <a:sym typeface="+mn-ea"/>
              </a:rPr>
              <a:t>(contd...)</a:t>
            </a:r>
            <a:endParaRPr lang="en-GB" altLang="en-US"/>
          </a:p>
        </p:txBody>
      </p:sp>
      <p:sp>
        <p:nvSpPr>
          <p:cNvPr id="3" name="Text Placeholder 2"/>
          <p:cNvSpPr>
            <a:spLocks noGrp="1"/>
          </p:cNvSpPr>
          <p:nvPr>
            <p:ph type="body" idx="1"/>
          </p:nvPr>
        </p:nvSpPr>
        <p:spPr/>
        <p:txBody>
          <a:bodyPr>
            <a:normAutofit/>
          </a:bodyPr>
          <a:lstStyle/>
          <a:p>
            <a:pPr marL="76200" indent="0" algn="just">
              <a:buNone/>
            </a:pPr>
            <a:r>
              <a:rPr lang="en-US" altLang="en-GB" sz="1500" dirty="0">
                <a:latin typeface="Calibri" panose="020F0502020204030204" charset="0"/>
                <a:cs typeface="Calibri" panose="020F0502020204030204" charset="0"/>
              </a:rPr>
              <a:t>7) </a:t>
            </a:r>
            <a:r>
              <a:rPr lang="en-US" altLang="en-GB" sz="1500" dirty="0" err="1">
                <a:latin typeface="Calibri" panose="020F0502020204030204" charset="0"/>
                <a:cs typeface="Calibri" panose="020F0502020204030204" charset="0"/>
              </a:rPr>
              <a:t>EfficientNet</a:t>
            </a:r>
            <a:r>
              <a:rPr lang="en-US" altLang="en-GB" sz="1500" dirty="0">
                <a:latin typeface="Calibri" panose="020F0502020204030204" charset="0"/>
                <a:cs typeface="Calibri" panose="020F0502020204030204" charset="0"/>
              </a:rPr>
              <a:t> Studies (2022–2025)</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High accuracy with fewer parameters (scalable).</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Heavier than </a:t>
            </a:r>
            <a:r>
              <a:rPr lang="en-US" altLang="en-GB" sz="1500" dirty="0" err="1">
                <a:latin typeface="Calibri" panose="020F0502020204030204" charset="0"/>
                <a:cs typeface="Calibri" panose="020F0502020204030204" charset="0"/>
              </a:rPr>
              <a:t>MobileNet</a:t>
            </a:r>
            <a:r>
              <a:rPr lang="en-US" altLang="en-GB" sz="1500" dirty="0">
                <a:latin typeface="Calibri" panose="020F0502020204030204" charset="0"/>
                <a:cs typeface="Calibri" panose="020F0502020204030204" charset="0"/>
              </a:rPr>
              <a:t> → trade-off for devices.</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8) Ensemble Models (2024)</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Multiple CNNs (</a:t>
            </a:r>
            <a:r>
              <a:rPr lang="en-US" altLang="en-GB" sz="1500" dirty="0" err="1">
                <a:latin typeface="Calibri" panose="020F0502020204030204" charset="0"/>
                <a:cs typeface="Calibri" panose="020F0502020204030204" charset="0"/>
              </a:rPr>
              <a:t>DenseNet</a:t>
            </a:r>
            <a:r>
              <a:rPr lang="en-US" altLang="en-GB" sz="1500" dirty="0">
                <a:latin typeface="Calibri" panose="020F0502020204030204" charset="0"/>
                <a:cs typeface="Calibri" panose="020F0502020204030204" charset="0"/>
              </a:rPr>
              <a:t>, </a:t>
            </a:r>
            <a:r>
              <a:rPr lang="en-US" altLang="en-GB" sz="1500" dirty="0" err="1">
                <a:latin typeface="Calibri" panose="020F0502020204030204" charset="0"/>
                <a:cs typeface="Calibri" panose="020F0502020204030204" charset="0"/>
              </a:rPr>
              <a:t>EfficientNet</a:t>
            </a:r>
            <a:r>
              <a:rPr lang="en-US" altLang="en-GB" sz="1500" dirty="0">
                <a:latin typeface="Calibri" panose="020F0502020204030204" charset="0"/>
                <a:cs typeface="Calibri" panose="020F0502020204030204" charset="0"/>
              </a:rPr>
              <a:t>, </a:t>
            </a:r>
            <a:r>
              <a:rPr lang="en-US" altLang="en-GB" sz="1500" dirty="0" err="1">
                <a:latin typeface="Calibri" panose="020F0502020204030204" charset="0"/>
                <a:cs typeface="Calibri" panose="020F0502020204030204" charset="0"/>
              </a:rPr>
              <a:t>InceptionResNet</a:t>
            </a:r>
            <a:r>
              <a:rPr lang="en-US" altLang="en-GB" sz="1500" dirty="0">
                <a:latin typeface="Calibri" panose="020F0502020204030204" charset="0"/>
                <a:cs typeface="Calibri" panose="020F0502020204030204" charset="0"/>
              </a:rPr>
              <a:t>) combined.</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Expensive computation, not mobile-friendly.</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9) Explainable AI (2025)</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Grad-CAM &amp; reliability metrics improve trust.</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Explanations may confuse non-experts.</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10) Knowledge-Based Systems (2021–2024)</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Ontologies + rule-based reasoning for treatment.</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Hard to localize &amp; maintain knowledge base.</a:t>
            </a:r>
            <a:endParaRPr lang="en-US" altLang="en-GB" sz="1500" dirty="0">
              <a:latin typeface="Calibri" panose="020F0502020204030204" charset="0"/>
              <a:cs typeface="Calibri" panose="020F0502020204030204" charset="0"/>
            </a:endParaRPr>
          </a:p>
          <a:p>
            <a:pPr marL="76200" indent="0" algn="just">
              <a:buNone/>
            </a:pPr>
            <a:r>
              <a:rPr lang="en-US" altLang="en-GB" sz="1500" dirty="0">
                <a:latin typeface="Calibri" panose="020F0502020204030204" charset="0"/>
                <a:cs typeface="Calibri" panose="020F0502020204030204" charset="0"/>
              </a:rPr>
              <a:t>11) </a:t>
            </a:r>
            <a:r>
              <a:rPr lang="en-US" altLang="en-GB" sz="1500" dirty="0" err="1">
                <a:latin typeface="Calibri" panose="020F0502020204030204" charset="0"/>
                <a:cs typeface="Calibri" panose="020F0502020204030204" charset="0"/>
              </a:rPr>
              <a:t>PlantCareNet</a:t>
            </a:r>
            <a:r>
              <a:rPr lang="en-US" altLang="en-GB" sz="1500" dirty="0">
                <a:latin typeface="Calibri" panose="020F0502020204030204" charset="0"/>
                <a:cs typeface="Calibri" panose="020F0502020204030204" charset="0"/>
              </a:rPr>
              <a:t> (2025) – Integrated Platform</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Combines detection, severity, and treatment recommendation.</a:t>
            </a:r>
            <a:endParaRPr lang="en-US" altLang="en-GB" sz="1500" dirty="0">
              <a:latin typeface="Calibri" panose="020F0502020204030204" charset="0"/>
              <a:cs typeface="Calibri" panose="020F0502020204030204" charset="0"/>
            </a:endParaRPr>
          </a:p>
          <a:p>
            <a:pPr algn="just"/>
            <a:r>
              <a:rPr lang="en-US" altLang="en-GB" sz="1500" dirty="0">
                <a:latin typeface="Calibri" panose="020F0502020204030204" charset="0"/>
                <a:cs typeface="Calibri" panose="020F0502020204030204" charset="0"/>
              </a:rPr>
              <a:t>Limitation: Pilot stage; needs field validation.</a:t>
            </a:r>
            <a:endParaRPr lang="en-US" altLang="en-GB" sz="1500" dirty="0">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effectLst/>
                <a:latin typeface="Cambria" panose="02040503050406030204" pitchFamily="18" charset="0"/>
                <a:cs typeface="Cambria" panose="02040503050406030204" pitchFamily="18" charset="0"/>
              </a:rPr>
              <a:t>Objectives</a:t>
            </a:r>
            <a:endParaRPr lang="en-US" altLang="en-GB">
              <a:effectLst/>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p:txBody>
          <a:bodyPr>
            <a:noAutofit/>
          </a:bodyPr>
          <a:lstStyle/>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Develop an accessible mobile platform for farmers to detect crop diseases using smartphone cameras.</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Implement secure authentication and data management through Supabase to handle user profiles and prediction history.</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Integrate a machine learning backend (FastAPI + CNN) to analyze crop images and predict diseases accurately.</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Leverage real-time weather data (OpenWeather API) to provide context-aware insights for crop health.</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Incorporate AI-driven recommendations (Gemini AI) for disease treatment and preventive measures in healthy crops.</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Enable result visualization through an intuitive React Native UI with modals for disease, weather, and AI suggestions.</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Provide offline usability with PDF report generation for sharing and record-keeping.</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Enhance farmer support via a chat-based AI assistant for interactive crop health guidance.</a:t>
            </a: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endParaRPr lang="en-US" altLang="en-GB" sz="1600" dirty="0">
              <a:latin typeface="Cambria" panose="02040503050406030204" pitchFamily="18" charset="0"/>
              <a:cs typeface="Cambria" panose="02040503050406030204" pitchFamily="18" charset="0"/>
            </a:endParaRPr>
          </a:p>
          <a:p>
            <a:pPr marL="419100" indent="-342900" algn="just">
              <a:lnSpc>
                <a:spcPct val="70000"/>
              </a:lnSpc>
              <a:buAutoNum type="arabicPeriod"/>
            </a:pPr>
            <a:r>
              <a:rPr lang="en-US" altLang="en-GB" sz="1600" dirty="0">
                <a:latin typeface="Cambria" panose="02040503050406030204" pitchFamily="18" charset="0"/>
                <a:cs typeface="Cambria" panose="02040503050406030204" pitchFamily="18" charset="0"/>
              </a:rPr>
              <a:t>Lay the foundation for future scalability, including multilingual support, real-time alerts, and marketplace integration.</a:t>
            </a:r>
            <a:endParaRPr lang="en-US" altLang="en-GB" sz="1600" dirty="0">
              <a:latin typeface="Cambria" panose="02040503050406030204" pitchFamily="18" charset="0"/>
              <a:cs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latin typeface="Cambria" panose="02040503050406030204" pitchFamily="18" charset="0"/>
                <a:cs typeface="Cambria" panose="02040503050406030204" pitchFamily="18" charset="0"/>
                <a:sym typeface="+mn-ea"/>
              </a:rPr>
              <a:t>Existing Methods and Drawbacks</a:t>
            </a:r>
            <a:endParaRPr lang="en-US" altLang="en-GB">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p:txBody>
          <a:bodyPr>
            <a:normAutofit/>
          </a:bodyPr>
          <a:lstStyle/>
          <a:p>
            <a:pPr algn="just">
              <a:lnSpc>
                <a:spcPct val="80000"/>
              </a:lnSpc>
              <a:buFont typeface="Wingdings" panose="05000000000000000000" charset="0"/>
              <a:buChar char="Ø"/>
            </a:pPr>
            <a:r>
              <a:rPr lang="en-US" altLang="en-GB" sz="1600" dirty="0">
                <a:latin typeface="Cambria" panose="02040503050406030204" pitchFamily="18" charset="0"/>
                <a:cs typeface="Cambria" panose="02040503050406030204" pitchFamily="18" charset="0"/>
              </a:rPr>
              <a:t>Manual Identification – Farmers depend on visual inspection; often inaccurate and delayed.</a:t>
            </a:r>
            <a:endParaRPr lang="en-US" altLang="en-GB" sz="1600" dirty="0">
              <a:latin typeface="Cambria" panose="02040503050406030204" pitchFamily="18" charset="0"/>
              <a:cs typeface="Cambria" panose="02040503050406030204" pitchFamily="18" charset="0"/>
            </a:endParaRPr>
          </a:p>
          <a:p>
            <a:pPr algn="just">
              <a:lnSpc>
                <a:spcPct val="80000"/>
              </a:lnSpc>
              <a:buFont typeface="Wingdings" panose="05000000000000000000" charset="0"/>
              <a:buChar char="Ø"/>
            </a:pPr>
            <a:endParaRPr lang="en-US" altLang="en-GB" sz="1600" dirty="0">
              <a:latin typeface="Cambria" panose="02040503050406030204" pitchFamily="18" charset="0"/>
              <a:cs typeface="Cambria" panose="02040503050406030204" pitchFamily="18" charset="0"/>
            </a:endParaRPr>
          </a:p>
          <a:p>
            <a:pPr algn="just">
              <a:lnSpc>
                <a:spcPct val="80000"/>
              </a:lnSpc>
              <a:buFont typeface="Wingdings" panose="05000000000000000000" charset="0"/>
              <a:buChar char="Ø"/>
            </a:pPr>
            <a:r>
              <a:rPr lang="en-US" altLang="en-GB" sz="1600" dirty="0">
                <a:latin typeface="Cambria" panose="02040503050406030204" pitchFamily="18" charset="0"/>
                <a:cs typeface="Cambria" panose="02040503050406030204" pitchFamily="18" charset="0"/>
              </a:rPr>
              <a:t>Extension Services – Advice from agriculture officers; slow, not always accessible, and generic.</a:t>
            </a:r>
            <a:endParaRPr lang="en-US" altLang="en-GB" sz="1600" dirty="0">
              <a:latin typeface="Cambria" panose="02040503050406030204" pitchFamily="18" charset="0"/>
              <a:cs typeface="Cambria" panose="02040503050406030204" pitchFamily="18" charset="0"/>
            </a:endParaRPr>
          </a:p>
          <a:p>
            <a:pPr algn="just">
              <a:lnSpc>
                <a:spcPct val="80000"/>
              </a:lnSpc>
              <a:buFont typeface="Wingdings" panose="05000000000000000000" charset="0"/>
              <a:buChar char="Ø"/>
            </a:pPr>
            <a:endParaRPr lang="en-US" altLang="en-GB" sz="1600" dirty="0">
              <a:latin typeface="Cambria" panose="02040503050406030204" pitchFamily="18" charset="0"/>
              <a:cs typeface="Cambria" panose="02040503050406030204" pitchFamily="18" charset="0"/>
            </a:endParaRPr>
          </a:p>
          <a:p>
            <a:pPr algn="just">
              <a:lnSpc>
                <a:spcPct val="80000"/>
              </a:lnSpc>
              <a:buFont typeface="Wingdings" panose="05000000000000000000" charset="0"/>
              <a:buChar char="Ø"/>
            </a:pPr>
            <a:r>
              <a:rPr lang="en-US" altLang="en-GB" sz="1600" dirty="0">
                <a:latin typeface="Cambria" panose="02040503050406030204" pitchFamily="18" charset="0"/>
                <a:cs typeface="Cambria" panose="02040503050406030204" pitchFamily="18" charset="0"/>
              </a:rPr>
              <a:t>Existing Mobile Apps – Provide disease names but lack weather integration, personalized tips, and affordability.</a:t>
            </a:r>
            <a:endParaRPr lang="en-US" altLang="en-GB" sz="1600" dirty="0">
              <a:latin typeface="Cambria" panose="02040503050406030204" pitchFamily="18" charset="0"/>
              <a:cs typeface="Cambria" panose="02040503050406030204" pitchFamily="18" charset="0"/>
            </a:endParaRPr>
          </a:p>
          <a:p>
            <a:pPr algn="just">
              <a:lnSpc>
                <a:spcPct val="80000"/>
              </a:lnSpc>
              <a:buFont typeface="Wingdings" panose="05000000000000000000" charset="0"/>
              <a:buChar char="Ø"/>
            </a:pPr>
            <a:endParaRPr lang="en-US" altLang="en-GB" sz="1600" dirty="0">
              <a:latin typeface="Cambria" panose="02040503050406030204" pitchFamily="18" charset="0"/>
              <a:cs typeface="Cambria" panose="02040503050406030204" pitchFamily="18" charset="0"/>
            </a:endParaRPr>
          </a:p>
          <a:p>
            <a:pPr algn="just">
              <a:lnSpc>
                <a:spcPct val="80000"/>
              </a:lnSpc>
              <a:buFont typeface="Wingdings" panose="05000000000000000000" charset="0"/>
              <a:buChar char="Ø"/>
            </a:pPr>
            <a:r>
              <a:rPr lang="en-US" altLang="en-GB" sz="1600" dirty="0">
                <a:latin typeface="Cambria" panose="02040503050406030204" pitchFamily="18" charset="0"/>
                <a:cs typeface="Cambria" panose="02040503050406030204" pitchFamily="18" charset="0"/>
              </a:rPr>
              <a:t>Lab Testing – Highly accurate but costly, time-consuming, and impractical for everyday farming.</a:t>
            </a:r>
            <a:endParaRPr lang="en-US" altLang="en-GB" sz="1600" dirty="0">
              <a:latin typeface="Cambria" panose="02040503050406030204" pitchFamily="18" charset="0"/>
              <a:cs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003"/>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tLang="en-GB" dirty="0">
                <a:latin typeface="Cambria" panose="02040503050406030204" pitchFamily="18" charset="0"/>
                <a:ea typeface="Cambria" panose="02040503050406030204" pitchFamily="18" charset="0"/>
              </a:rPr>
              <a:t>Proposed Method &amp; Feasibility Study</a:t>
            </a:r>
            <a:endParaRPr lang="en-US" altLang="en-GB"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952500"/>
            <a:ext cx="10668000" cy="4953000"/>
          </a:xfrm>
          <a:prstGeom prst="rect">
            <a:avLst/>
          </a:prstGeom>
          <a:noFill/>
          <a:ln>
            <a:noFill/>
          </a:ln>
        </p:spPr>
        <p:txBody>
          <a:bodyPr spcFirstLastPara="1" wrap="square" lIns="91425" tIns="45700" rIns="91425" bIns="45700" anchor="t" anchorCtr="0">
            <a:normAutofit fontScale="25000"/>
          </a:bodyPr>
          <a:lstStyle/>
          <a:p>
            <a:pPr marL="438150" lvl="0" indent="-285750" algn="just" rtl="0">
              <a:lnSpc>
                <a:spcPct val="120000"/>
              </a:lnSpc>
              <a:spcBef>
                <a:spcPts val="0"/>
              </a:spcBef>
              <a:spcAft>
                <a:spcPts val="0"/>
              </a:spcAft>
              <a:buClr>
                <a:schemeClr val="dk1"/>
              </a:buClr>
              <a:buSzPct val="100000"/>
              <a:buFont typeface="Wingdings" panose="05000000000000000000" charset="0"/>
              <a:buChar char="§"/>
            </a:pPr>
            <a:r>
              <a:rPr lang="en-US" altLang="en-GB" sz="6400" dirty="0">
                <a:latin typeface="Cambria" panose="02040503050406030204" pitchFamily="18" charset="0"/>
                <a:ea typeface="Cambria" panose="02040503050406030204" pitchFamily="18" charset="0"/>
              </a:rPr>
              <a:t>User Authentication (Supabase) – Secure login and profile management.</a:t>
            </a: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r>
              <a:rPr lang="en-US" altLang="en-GB" sz="6400" dirty="0">
                <a:latin typeface="Cambria" panose="02040503050406030204" pitchFamily="18" charset="0"/>
                <a:ea typeface="Cambria" panose="02040503050406030204" pitchFamily="18" charset="0"/>
              </a:rPr>
              <a:t>Image Input (React Native Camera/Gallery) – Farmer captures or uploads a leaf image.</a:t>
            </a: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r>
              <a:rPr lang="en-US" altLang="en-GB" sz="6400" dirty="0">
                <a:latin typeface="Cambria" panose="02040503050406030204" pitchFamily="18" charset="0"/>
                <a:ea typeface="Cambria" panose="02040503050406030204" pitchFamily="18" charset="0"/>
              </a:rPr>
              <a:t>Disease Prediction (FastAPI + CNN Model) – Image sent to backend ML model for classification.</a:t>
            </a: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r>
              <a:rPr lang="en-US" altLang="en-GB" sz="6400" dirty="0">
                <a:latin typeface="Cambria" panose="02040503050406030204" pitchFamily="18" charset="0"/>
                <a:ea typeface="Cambria" panose="02040503050406030204" pitchFamily="18" charset="0"/>
              </a:rPr>
              <a:t>Weather Data Integration (OpenWeather API) – Fetches real-time temperature, humidity, and conditions for context.</a:t>
            </a: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r>
              <a:rPr lang="en-US" altLang="en-GB" sz="6400" dirty="0">
                <a:latin typeface="Cambria" panose="02040503050406030204" pitchFamily="18" charset="0"/>
                <a:ea typeface="Cambria" panose="02040503050406030204" pitchFamily="18" charset="0"/>
              </a:rPr>
              <a:t>AI Suggestions (Google Gemini AI) – Provides personalized treatments if diseased, or preventive tips if healthy.</a:t>
            </a: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r>
              <a:rPr lang="en-US" altLang="en-GB" sz="6400" dirty="0">
                <a:latin typeface="Cambria" panose="02040503050406030204" pitchFamily="18" charset="0"/>
                <a:ea typeface="Cambria" panose="02040503050406030204" pitchFamily="18" charset="0"/>
              </a:rPr>
              <a:t>Result Display (Modal UI) – Prediction, weather, and AI suggestions shown in an easy-to-read format.</a:t>
            </a: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endParaRPr lang="en-US" altLang="en-GB" sz="6400" dirty="0">
              <a:latin typeface="Cambria" panose="02040503050406030204" pitchFamily="18" charset="0"/>
              <a:ea typeface="Cambria" panose="02040503050406030204" pitchFamily="18" charset="0"/>
            </a:endParaRPr>
          </a:p>
          <a:p>
            <a:pPr marL="438150" lvl="0" indent="-285750" algn="just" rtl="0">
              <a:lnSpc>
                <a:spcPct val="120000"/>
              </a:lnSpc>
              <a:spcBef>
                <a:spcPts val="0"/>
              </a:spcBef>
              <a:spcAft>
                <a:spcPts val="0"/>
              </a:spcAft>
              <a:buClr>
                <a:schemeClr val="dk1"/>
              </a:buClr>
              <a:buSzPct val="100000"/>
              <a:buFont typeface="Wingdings" panose="05000000000000000000" charset="0"/>
              <a:buChar char="§"/>
            </a:pPr>
            <a:r>
              <a:rPr lang="en-US" altLang="en-GB" sz="6400" dirty="0">
                <a:latin typeface="Cambria" panose="02040503050406030204" pitchFamily="18" charset="0"/>
                <a:ea typeface="Cambria" panose="02040503050406030204" pitchFamily="18" charset="0"/>
              </a:rPr>
              <a:t>Extra Features – PDF report generation, AI chat assistant, and prediction history storage.</a:t>
            </a:r>
            <a:endParaRPr lang="en-US" altLang="en-GB" sz="64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F</a:t>
            </a:r>
            <a:r>
              <a:rPr lang="en-IN" altLang="en-US"/>
              <a:t>low C</a:t>
            </a:r>
            <a:r>
              <a:rPr lang="en-US" altLang="en-GB"/>
              <a:t>hart</a:t>
            </a:r>
            <a:endParaRPr lang="en-US" altLang="en-GB"/>
          </a:p>
        </p:txBody>
      </p:sp>
      <p:sp>
        <p:nvSpPr>
          <p:cNvPr id="3" name="Text Placeholder 2"/>
          <p:cNvSpPr>
            <a:spLocks noGrp="1"/>
          </p:cNvSpPr>
          <p:nvPr>
            <p:ph type="body" idx="1"/>
          </p:nvPr>
        </p:nvSpPr>
        <p:spPr/>
        <p:txBody>
          <a:bodyPr/>
          <a:p>
            <a:endParaRPr lang="en-GB" altLang="en-US"/>
          </a:p>
        </p:txBody>
      </p:sp>
      <p:pic>
        <p:nvPicPr>
          <p:cNvPr id="5" name="Picture 4"/>
          <p:cNvPicPr/>
          <p:nvPr/>
        </p:nvPicPr>
        <p:blipFill>
          <a:blip r:embed="rId1"/>
          <a:stretch>
            <a:fillRect/>
          </a:stretch>
        </p:blipFill>
        <p:spPr>
          <a:xfrm>
            <a:off x="4166870" y="1012825"/>
            <a:ext cx="4606925" cy="55721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955"/>
            <a:ext cx="10668000" cy="48768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tLang="en-GB" dirty="0">
                <a:latin typeface="Cambria" panose="02040503050406030204" pitchFamily="18" charset="0"/>
                <a:ea typeface="Cambria" panose="02040503050406030204" pitchFamily="18" charset="0"/>
                <a:sym typeface="+mn-ea"/>
              </a:rPr>
              <a:t>Architecture Diagram</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descr="ChatGPT Image Sep 27, 2025, 11_26_20 AM"/>
          <p:cNvPicPr>
            <a:picLocks noChangeAspect="1"/>
          </p:cNvPicPr>
          <p:nvPr/>
        </p:nvPicPr>
        <p:blipFill>
          <a:blip r:embed="rId1"/>
          <a:stretch>
            <a:fillRect/>
          </a:stretch>
        </p:blipFill>
        <p:spPr>
          <a:xfrm>
            <a:off x="551815" y="1057275"/>
            <a:ext cx="11109325" cy="50285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 Details</a:t>
            </a:r>
            <a:endParaRPr lang="en-IN" dirty="0"/>
          </a:p>
        </p:txBody>
      </p:sp>
      <p:sp>
        <p:nvSpPr>
          <p:cNvPr id="3" name="Text Placeholder 2"/>
          <p:cNvSpPr>
            <a:spLocks noGrp="1"/>
          </p:cNvSpPr>
          <p:nvPr>
            <p:ph type="body" idx="1"/>
          </p:nvPr>
        </p:nvSpPr>
        <p:spPr>
          <a:xfrm>
            <a:off x="812800" y="614680"/>
            <a:ext cx="10668000" cy="5424169"/>
          </a:xfrm>
        </p:spPr>
        <p:txBody>
          <a:bodyPr>
            <a:noAutofit/>
          </a:bodyPr>
          <a:lstStyle/>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IN" sz="1600" b="1" dirty="0"/>
              <a:t>Stepwise Algorithm Flow</a:t>
            </a:r>
            <a:endParaRPr lang="en-IN" sz="1600" b="1" dirty="0"/>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1.</a:t>
            </a:r>
            <a:r>
              <a:rPr lang="en-IN" sz="1600" b="1" dirty="0"/>
              <a:t>Data Acquisition</a:t>
            </a:r>
            <a:endParaRPr lang="en-US" altLang="en-GB" sz="1600" b="1" dirty="0">
              <a:latin typeface="Cambria" panose="02040503050406030204" pitchFamily="18" charset="0"/>
              <a:cs typeface="Cambria" panose="02040503050406030204" pitchFamily="18" charset="0"/>
            </a:endParaRPr>
          </a:p>
          <a:p>
            <a:pPr algn="just">
              <a:lnSpc>
                <a:spcPct val="70000"/>
              </a:lnSpc>
            </a:pPr>
            <a:r>
              <a:rPr lang="en-US" sz="1600" dirty="0"/>
              <a:t>Collect annotated crop/plant leaf images for various diseases from open datasets (e.g., </a:t>
            </a:r>
            <a:r>
              <a:rPr lang="en-US" sz="1600" dirty="0" err="1"/>
              <a:t>PlantVillage</a:t>
            </a:r>
            <a:r>
              <a:rPr lang="en-US" sz="1600" dirty="0"/>
              <a:t>).</a:t>
            </a:r>
            <a:endParaRPr lang="en-US" sz="1600" dirty="0"/>
          </a:p>
          <a:p>
            <a:pPr algn="just">
              <a:lnSpc>
                <a:spcPct val="70000"/>
              </a:lnSpc>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2. </a:t>
            </a:r>
            <a:r>
              <a:rPr lang="en-IN" sz="1600" b="1" dirty="0"/>
              <a:t>Preprocessing</a:t>
            </a:r>
            <a:endParaRPr lang="en-US" altLang="en-GB" sz="1600" dirty="0">
              <a:latin typeface="Cambria" panose="02040503050406030204" pitchFamily="18" charset="0"/>
              <a:cs typeface="Cambria" panose="02040503050406030204" pitchFamily="18" charset="0"/>
            </a:endParaRPr>
          </a:p>
          <a:p>
            <a:pPr algn="just">
              <a:lnSpc>
                <a:spcPct val="70000"/>
              </a:lnSpc>
            </a:pPr>
            <a:r>
              <a:rPr lang="en-US" sz="1600" dirty="0"/>
              <a:t>Resize images to 224x224 pixels.</a:t>
            </a:r>
            <a:endParaRPr lang="en-US" sz="1600" dirty="0"/>
          </a:p>
          <a:p>
            <a:pPr algn="just">
              <a:lnSpc>
                <a:spcPct val="70000"/>
              </a:lnSpc>
            </a:pPr>
            <a:r>
              <a:rPr lang="en-US" sz="1600" dirty="0"/>
              <a:t>Normalize pixel values to.</a:t>
            </a:r>
            <a:endParaRPr lang="en-US" sz="1600" dirty="0"/>
          </a:p>
          <a:p>
            <a:pPr algn="just">
              <a:lnSpc>
                <a:spcPct val="70000"/>
              </a:lnSpc>
            </a:pPr>
            <a:r>
              <a:rPr lang="en-US" sz="1600" dirty="0"/>
              <a:t>Augment: Flip, rotate, zoom to increase dataset robustness.</a:t>
            </a:r>
            <a:endParaRPr lang="en-US" sz="1600" dirty="0"/>
          </a:p>
          <a:p>
            <a:pPr algn="just">
              <a:lnSpc>
                <a:spcPct val="70000"/>
              </a:lnSpc>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3. </a:t>
            </a:r>
            <a:r>
              <a:rPr lang="en-IN" sz="1600" b="1" dirty="0"/>
              <a:t>Model Architecture</a:t>
            </a:r>
            <a:endParaRPr lang="en-US" altLang="en-GB" sz="1600" dirty="0">
              <a:latin typeface="Cambria" panose="02040503050406030204" pitchFamily="18" charset="0"/>
              <a:cs typeface="Cambria" panose="02040503050406030204" pitchFamily="18" charset="0"/>
            </a:endParaRPr>
          </a:p>
          <a:p>
            <a:pPr algn="just">
              <a:lnSpc>
                <a:spcPct val="70000"/>
              </a:lnSpc>
            </a:pPr>
            <a:r>
              <a:rPr lang="en-US" sz="1600" dirty="0"/>
              <a:t>Use pretrained MobileNetV2 as feature extractor (transfer learning).</a:t>
            </a:r>
            <a:endParaRPr lang="en-US" sz="1600" dirty="0"/>
          </a:p>
          <a:p>
            <a:pPr algn="just">
              <a:lnSpc>
                <a:spcPct val="70000"/>
              </a:lnSpc>
            </a:pPr>
            <a:r>
              <a:rPr lang="en-US" sz="1600" dirty="0"/>
              <a:t>Add custom dense layers for classification (with </a:t>
            </a:r>
            <a:r>
              <a:rPr lang="en-US" sz="1600" dirty="0" err="1"/>
              <a:t>softmax</a:t>
            </a:r>
            <a:r>
              <a:rPr lang="en-US" sz="1600" dirty="0"/>
              <a:t> output for N classes).</a:t>
            </a:r>
            <a:endParaRPr lang="en-US" sz="1600" dirty="0"/>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4. </a:t>
            </a:r>
            <a:r>
              <a:rPr lang="en-IN" sz="1600" b="1" dirty="0"/>
              <a:t>Training</a:t>
            </a:r>
            <a:endParaRPr lang="en-US" altLang="en-GB" sz="1600" dirty="0">
              <a:latin typeface="Cambria" panose="02040503050406030204" pitchFamily="18" charset="0"/>
              <a:cs typeface="Cambria" panose="02040503050406030204" pitchFamily="18" charset="0"/>
            </a:endParaRPr>
          </a:p>
          <a:p>
            <a:pPr algn="just">
              <a:lnSpc>
                <a:spcPct val="70000"/>
              </a:lnSpc>
            </a:pPr>
            <a:endParaRPr lang="en-IN" sz="1600" dirty="0"/>
          </a:p>
          <a:p>
            <a:pPr algn="just">
              <a:lnSpc>
                <a:spcPct val="70000"/>
              </a:lnSpc>
            </a:pPr>
            <a:r>
              <a:rPr lang="en-IN" sz="1600" dirty="0"/>
              <a:t>Compile model with categorical cross-entropy loss, Adam optimizer, and ‘accuracy’ metric.</a:t>
            </a:r>
            <a:endParaRPr lang="en-IN" sz="1600" dirty="0"/>
          </a:p>
          <a:p>
            <a:pPr algn="just">
              <a:lnSpc>
                <a:spcPct val="70000"/>
              </a:lnSpc>
            </a:pPr>
            <a:r>
              <a:rPr lang="en-IN" sz="1600" dirty="0"/>
              <a:t>Train on processed images with batch size X, for Y epochs (specify your actual values).</a:t>
            </a:r>
            <a:endParaRPr lang="en-IN" sz="1600" dirty="0"/>
          </a:p>
          <a:p>
            <a:pPr algn="just">
              <a:lnSpc>
                <a:spcPct val="70000"/>
              </a:lnSpc>
            </a:pPr>
            <a:r>
              <a:rPr lang="en-IN" sz="1600" dirty="0"/>
              <a:t>Validate model on holdout test data after each epoch.</a:t>
            </a:r>
            <a:endParaRPr lang="en-IN"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 Details</a:t>
            </a:r>
            <a:endParaRPr lang="en-IN" dirty="0"/>
          </a:p>
        </p:txBody>
      </p:sp>
      <p:sp>
        <p:nvSpPr>
          <p:cNvPr id="3" name="Text Placeholder 2"/>
          <p:cNvSpPr>
            <a:spLocks noGrp="1"/>
          </p:cNvSpPr>
          <p:nvPr>
            <p:ph type="body" idx="1"/>
          </p:nvPr>
        </p:nvSpPr>
        <p:spPr>
          <a:xfrm>
            <a:off x="812800" y="923925"/>
            <a:ext cx="10668000" cy="5424169"/>
          </a:xfrm>
        </p:spPr>
        <p:txBody>
          <a:bodyPr>
            <a:noAutofit/>
          </a:bodyPr>
          <a:lstStyle/>
          <a:p>
            <a:pPr marL="76200" indent="0" algn="just">
              <a:lnSpc>
                <a:spcPct val="8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80000"/>
              </a:lnSpc>
              <a:buNone/>
            </a:pPr>
            <a:r>
              <a:rPr lang="en-US" altLang="en-GB" sz="1600" dirty="0">
                <a:latin typeface="Cambria" panose="02040503050406030204" pitchFamily="18" charset="0"/>
                <a:cs typeface="Cambria" panose="02040503050406030204" pitchFamily="18" charset="0"/>
              </a:rPr>
              <a:t>5.</a:t>
            </a:r>
            <a:r>
              <a:rPr lang="en-IN" sz="1600" b="1" dirty="0"/>
              <a:t> </a:t>
            </a:r>
            <a:r>
              <a:rPr lang="en-IN" sz="1600" b="1" dirty="0"/>
              <a:t>Prediction</a:t>
            </a:r>
            <a:endParaRPr lang="en-IN" sz="1600" b="1" dirty="0"/>
          </a:p>
          <a:p>
            <a:pPr algn="just">
              <a:lnSpc>
                <a:spcPct val="80000"/>
              </a:lnSpc>
            </a:pPr>
            <a:r>
              <a:rPr lang="en-US" sz="1600" dirty="0"/>
              <a:t>Accept user-uploaded image via web interface.</a:t>
            </a:r>
            <a:endParaRPr lang="en-US" sz="1600" dirty="0"/>
          </a:p>
          <a:p>
            <a:pPr algn="just">
              <a:lnSpc>
                <a:spcPct val="80000"/>
              </a:lnSpc>
            </a:pPr>
            <a:r>
              <a:rPr lang="en-US" sz="1600" dirty="0"/>
              <a:t>Preprocess and feed into model.</a:t>
            </a:r>
            <a:endParaRPr lang="en-US" sz="1600" dirty="0"/>
          </a:p>
          <a:p>
            <a:pPr algn="just">
              <a:lnSpc>
                <a:spcPct val="80000"/>
              </a:lnSpc>
            </a:pPr>
            <a:r>
              <a:rPr lang="en-US" sz="1600" dirty="0"/>
              <a:t>Output predicted disease class and probability/confidence.</a:t>
            </a:r>
            <a:endParaRPr lang="en-US" sz="1600" dirty="0"/>
          </a:p>
          <a:p>
            <a:pPr algn="just">
              <a:lnSpc>
                <a:spcPct val="80000"/>
              </a:lnSpc>
            </a:pPr>
            <a:endParaRPr lang="en-US" altLang="en-GB" sz="1600" dirty="0">
              <a:latin typeface="Cambria" panose="02040503050406030204" pitchFamily="18" charset="0"/>
              <a:cs typeface="Cambria" panose="02040503050406030204" pitchFamily="18" charset="0"/>
            </a:endParaRPr>
          </a:p>
          <a:p>
            <a:pPr marL="76200" indent="0" algn="just">
              <a:lnSpc>
                <a:spcPct val="80000"/>
              </a:lnSpc>
              <a:buNone/>
            </a:pPr>
            <a:r>
              <a:rPr lang="en-US" altLang="en-GB" sz="1600" dirty="0">
                <a:latin typeface="Cambria" panose="02040503050406030204" pitchFamily="18" charset="0"/>
                <a:cs typeface="Cambria" panose="02040503050406030204" pitchFamily="18" charset="0"/>
              </a:rPr>
              <a:t>6. </a:t>
            </a:r>
            <a:r>
              <a:rPr lang="en-IN" sz="1600" b="1" dirty="0"/>
              <a:t>Treatment Suggestion</a:t>
            </a:r>
            <a:endParaRPr lang="en-IN" sz="1600" dirty="0"/>
          </a:p>
          <a:p>
            <a:pPr algn="just">
              <a:lnSpc>
                <a:spcPct val="80000"/>
              </a:lnSpc>
            </a:pPr>
            <a:r>
              <a:rPr lang="en-US" sz="1600" dirty="0"/>
              <a:t>Map disease class to predefined treatment advice.</a:t>
            </a:r>
            <a:endParaRPr lang="en-US" sz="1600" dirty="0"/>
          </a:p>
          <a:p>
            <a:pPr algn="just">
              <a:lnSpc>
                <a:spcPct val="80000"/>
              </a:lnSpc>
            </a:pPr>
            <a:endParaRPr lang="en-US" altLang="en-GB" sz="1600" dirty="0">
              <a:latin typeface="Cambria" panose="02040503050406030204" pitchFamily="18" charset="0"/>
              <a:cs typeface="Cambria" panose="02040503050406030204" pitchFamily="18" charset="0"/>
            </a:endParaRPr>
          </a:p>
          <a:p>
            <a:pPr marL="76200" indent="0" algn="just">
              <a:lnSpc>
                <a:spcPct val="80000"/>
              </a:lnSpc>
              <a:buNone/>
            </a:pPr>
            <a:r>
              <a:rPr lang="en-IN" sz="1600" b="1" dirty="0"/>
              <a:t>Pseudo-code for Prediction Module:</a:t>
            </a:r>
            <a:endParaRPr lang="en-IN" sz="1600" b="1" dirty="0"/>
          </a:p>
          <a:p>
            <a:pPr marL="76200" indent="0" algn="just">
              <a:lnSpc>
                <a:spcPct val="80000"/>
              </a:lnSpc>
              <a:buNone/>
            </a:pPr>
            <a:r>
              <a:rPr lang="en-US" sz="1600" dirty="0"/>
              <a:t> def </a:t>
            </a:r>
            <a:r>
              <a:rPr lang="en-US" sz="1600" dirty="0" err="1"/>
              <a:t>predict_disease</a:t>
            </a:r>
            <a:r>
              <a:rPr lang="en-US" sz="1600" dirty="0"/>
              <a:t>(image):</a:t>
            </a:r>
            <a:endParaRPr lang="en-US" sz="1600" dirty="0"/>
          </a:p>
          <a:p>
            <a:pPr marL="76200" indent="0" algn="just">
              <a:lnSpc>
                <a:spcPct val="80000"/>
              </a:lnSpc>
              <a:buNone/>
            </a:pPr>
            <a:r>
              <a:rPr lang="en-US" sz="1600" dirty="0"/>
              <a:t>    </a:t>
            </a:r>
            <a:r>
              <a:rPr lang="en-US" sz="1600" dirty="0" err="1"/>
              <a:t>processed_image</a:t>
            </a:r>
            <a:r>
              <a:rPr lang="en-US" sz="1600" dirty="0"/>
              <a:t> = preprocess(image)</a:t>
            </a:r>
            <a:endParaRPr lang="en-US" sz="1600" dirty="0"/>
          </a:p>
          <a:p>
            <a:pPr marL="76200" indent="0" algn="just">
              <a:lnSpc>
                <a:spcPct val="80000"/>
              </a:lnSpc>
              <a:buNone/>
            </a:pPr>
            <a:r>
              <a:rPr lang="en-US" sz="1600" dirty="0"/>
              <a:t>    prediction = </a:t>
            </a:r>
            <a:r>
              <a:rPr lang="en-US" sz="1600" dirty="0" err="1"/>
              <a:t>model.predict</a:t>
            </a:r>
            <a:r>
              <a:rPr lang="en-US" sz="1600" dirty="0"/>
              <a:t>(</a:t>
            </a:r>
            <a:r>
              <a:rPr lang="en-US" sz="1600" dirty="0" err="1"/>
              <a:t>processed_image</a:t>
            </a:r>
            <a:r>
              <a:rPr lang="en-US" sz="1600" dirty="0"/>
              <a:t>)</a:t>
            </a:r>
            <a:endParaRPr lang="en-US" sz="1600" dirty="0"/>
          </a:p>
          <a:p>
            <a:pPr marL="76200" indent="0" algn="just">
              <a:lnSpc>
                <a:spcPct val="80000"/>
              </a:lnSpc>
              <a:buNone/>
            </a:pPr>
            <a:r>
              <a:rPr lang="en-US" sz="1600" dirty="0"/>
              <a:t>    </a:t>
            </a:r>
            <a:r>
              <a:rPr lang="en-US" sz="1600" dirty="0" err="1"/>
              <a:t>class_idx</a:t>
            </a:r>
            <a:r>
              <a:rPr lang="en-US" sz="1600" dirty="0"/>
              <a:t> = </a:t>
            </a:r>
            <a:r>
              <a:rPr lang="en-US" sz="1600" dirty="0" err="1"/>
              <a:t>np.argmax</a:t>
            </a:r>
            <a:r>
              <a:rPr lang="en-US" sz="1600" dirty="0"/>
              <a:t>(prediction)</a:t>
            </a:r>
            <a:endParaRPr lang="en-US" sz="1600" dirty="0"/>
          </a:p>
          <a:p>
            <a:pPr marL="76200" indent="0" algn="just">
              <a:lnSpc>
                <a:spcPct val="80000"/>
              </a:lnSpc>
              <a:buNone/>
            </a:pPr>
            <a:r>
              <a:rPr lang="en-US" sz="1600" dirty="0"/>
              <a:t>    </a:t>
            </a:r>
            <a:r>
              <a:rPr lang="en-US" sz="1600" dirty="0" err="1"/>
              <a:t>class_name</a:t>
            </a:r>
            <a:r>
              <a:rPr lang="en-US" sz="1600" dirty="0"/>
              <a:t> = </a:t>
            </a:r>
            <a:r>
              <a:rPr lang="en-US" sz="1600" dirty="0" err="1"/>
              <a:t>class_names</a:t>
            </a:r>
            <a:r>
              <a:rPr lang="en-US" sz="1600" dirty="0"/>
              <a:t>[</a:t>
            </a:r>
            <a:r>
              <a:rPr lang="en-US" sz="1600" dirty="0" err="1"/>
              <a:t>class_idx</a:t>
            </a:r>
            <a:r>
              <a:rPr lang="en-US" sz="1600" dirty="0"/>
              <a:t>]</a:t>
            </a:r>
            <a:endParaRPr lang="en-US" sz="1600" dirty="0"/>
          </a:p>
          <a:p>
            <a:pPr marL="76200" indent="0" algn="just">
              <a:lnSpc>
                <a:spcPct val="80000"/>
              </a:lnSpc>
              <a:buNone/>
            </a:pPr>
            <a:r>
              <a:rPr lang="en-US" sz="1600" dirty="0"/>
              <a:t>    confidence = prediction[0][</a:t>
            </a:r>
            <a:r>
              <a:rPr lang="en-US" sz="1600" dirty="0" err="1"/>
              <a:t>class_idx</a:t>
            </a:r>
            <a:r>
              <a:rPr lang="en-US" sz="1600" dirty="0"/>
              <a:t>]</a:t>
            </a:r>
            <a:endParaRPr lang="en-US" sz="1600" dirty="0"/>
          </a:p>
          <a:p>
            <a:pPr marL="76200" indent="0" algn="just">
              <a:lnSpc>
                <a:spcPct val="80000"/>
              </a:lnSpc>
              <a:buNone/>
            </a:pPr>
            <a:r>
              <a:rPr lang="en-US" sz="1600" dirty="0"/>
              <a:t>    return </a:t>
            </a:r>
            <a:r>
              <a:rPr lang="en-US" sz="1600" dirty="0" err="1"/>
              <a:t>class_name</a:t>
            </a:r>
            <a:r>
              <a:rPr lang="en-US" sz="1600" dirty="0"/>
              <a:t>, confidence</a:t>
            </a:r>
            <a:endParaRPr lang="en-US" sz="1600" dirty="0"/>
          </a:p>
          <a:p>
            <a:pPr marL="76200" indent="0" algn="just">
              <a:lnSpc>
                <a:spcPct val="80000"/>
              </a:lnSpc>
              <a:buNone/>
            </a:pPr>
            <a:endParaRPr lang="en-IN" sz="1600" dirty="0"/>
          </a:p>
        </p:txBody>
      </p:sp>
      <p:pic>
        <p:nvPicPr>
          <p:cNvPr id="7" name="Picture 6"/>
          <p:cNvPicPr>
            <a:picLocks noChangeAspect="1"/>
          </p:cNvPicPr>
          <p:nvPr/>
        </p:nvPicPr>
        <p:blipFill>
          <a:blip r:embed="rId1"/>
          <a:stretch>
            <a:fillRect/>
          </a:stretch>
        </p:blipFill>
        <p:spPr>
          <a:xfrm>
            <a:off x="6550660" y="3361690"/>
            <a:ext cx="5010150" cy="29864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Source Code Highlights</a:t>
            </a:r>
            <a:endParaRPr lang="en-US" altLang="en-GB" dirty="0">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a:xfrm>
            <a:off x="812800" y="614681"/>
            <a:ext cx="10668000" cy="4953000"/>
          </a:xfrm>
        </p:spPr>
        <p:txBody>
          <a:bodyPr>
            <a:noAutofit/>
          </a:bodyPr>
          <a:lstStyle/>
          <a:p>
            <a:pPr marL="76200" indent="0" algn="just">
              <a:buNone/>
            </a:pPr>
            <a:endParaRPr lang="en-US" altLang="en-GB" sz="1600" dirty="0">
              <a:latin typeface="Cambria" panose="02040503050406030204" pitchFamily="18" charset="0"/>
              <a:cs typeface="Cambria" panose="02040503050406030204" pitchFamily="18" charset="0"/>
            </a:endParaRPr>
          </a:p>
          <a:p>
            <a:pPr marL="76200" indent="0" algn="just">
              <a:buNone/>
            </a:pP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1</a:t>
            </a:r>
            <a:r>
              <a:rPr lang="en-IN" altLang="en-GB" sz="1600" b="1" dirty="0">
                <a:latin typeface="Cambria" panose="02040503050406030204" pitchFamily="18" charset="0"/>
                <a:cs typeface="Cambria" panose="02040503050406030204" pitchFamily="18" charset="0"/>
              </a:rPr>
              <a:t>. </a:t>
            </a:r>
            <a:r>
              <a:rPr lang="en-IN" sz="1600" b="1" dirty="0"/>
              <a:t>Preprocessing Snippet:</a:t>
            </a:r>
            <a:endParaRPr lang="en-IN" sz="1600" b="1" dirty="0"/>
          </a:p>
          <a:p>
            <a:pPr marL="76200" indent="0" algn="just">
              <a:buNone/>
            </a:pPr>
            <a:r>
              <a:rPr lang="en-US" altLang="en-GB" sz="1600" dirty="0">
                <a:latin typeface="Cambria" panose="02040503050406030204" pitchFamily="18" charset="0"/>
                <a:cs typeface="Cambria" panose="02040503050406030204" pitchFamily="18" charset="0"/>
              </a:rPr>
              <a:t>def </a:t>
            </a:r>
            <a:r>
              <a:rPr lang="en-US" altLang="en-GB" sz="1600" dirty="0" err="1">
                <a:latin typeface="Cambria" panose="02040503050406030204" pitchFamily="18" charset="0"/>
                <a:cs typeface="Cambria" panose="02040503050406030204" pitchFamily="18" charset="0"/>
              </a:rPr>
              <a:t>preprocess_image</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image_path</a:t>
            </a: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target_size</a:t>
            </a:r>
            <a:r>
              <a:rPr lang="en-US" altLang="en-GB" sz="1600" dirty="0">
                <a:latin typeface="Cambria" panose="02040503050406030204" pitchFamily="18" charset="0"/>
                <a:cs typeface="Cambria" panose="02040503050406030204" pitchFamily="18" charset="0"/>
              </a:rPr>
              <a:t>=(224, 224)):</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Reads an image, converts to RGB if needed,</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resizes to target size, normalizes pixels,</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and returns </a:t>
            </a:r>
            <a:r>
              <a:rPr lang="en-US" altLang="en-GB" sz="1600" dirty="0" err="1">
                <a:latin typeface="Cambria" panose="02040503050406030204" pitchFamily="18" charset="0"/>
                <a:cs typeface="Cambria" panose="02040503050406030204" pitchFamily="18" charset="0"/>
              </a:rPr>
              <a:t>numpy</a:t>
            </a:r>
            <a:r>
              <a:rPr lang="en-US" altLang="en-GB" sz="1600" dirty="0">
                <a:latin typeface="Cambria" panose="02040503050406030204" pitchFamily="18" charset="0"/>
                <a:cs typeface="Cambria" panose="02040503050406030204" pitchFamily="18" charset="0"/>
              </a:rPr>
              <a:t> array ready for model input.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image = </a:t>
            </a:r>
            <a:r>
              <a:rPr lang="en-US" altLang="en-GB" sz="1600" dirty="0" err="1">
                <a:latin typeface="Cambria" panose="02040503050406030204" pitchFamily="18" charset="0"/>
                <a:cs typeface="Cambria" panose="02040503050406030204" pitchFamily="18" charset="0"/>
              </a:rPr>
              <a:t>Image.open</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image_path</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if </a:t>
            </a:r>
            <a:r>
              <a:rPr lang="en-US" altLang="en-GB" sz="1600" dirty="0" err="1">
                <a:latin typeface="Cambria" panose="02040503050406030204" pitchFamily="18" charset="0"/>
                <a:cs typeface="Cambria" panose="02040503050406030204" pitchFamily="18" charset="0"/>
              </a:rPr>
              <a:t>image.mode</a:t>
            </a:r>
            <a:r>
              <a:rPr lang="en-US" altLang="en-GB" sz="1600" dirty="0">
                <a:latin typeface="Cambria" panose="02040503050406030204" pitchFamily="18" charset="0"/>
                <a:cs typeface="Cambria" panose="02040503050406030204" pitchFamily="18" charset="0"/>
              </a:rPr>
              <a:t> != 'RGB':</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image = </a:t>
            </a:r>
            <a:r>
              <a:rPr lang="en-US" altLang="en-GB" sz="1600" dirty="0" err="1">
                <a:latin typeface="Cambria" panose="02040503050406030204" pitchFamily="18" charset="0"/>
                <a:cs typeface="Cambria" panose="02040503050406030204" pitchFamily="18" charset="0"/>
              </a:rPr>
              <a:t>image.convert</a:t>
            </a:r>
            <a:r>
              <a:rPr lang="en-US" altLang="en-GB" sz="1600" dirty="0">
                <a:latin typeface="Cambria" panose="02040503050406030204" pitchFamily="18" charset="0"/>
                <a:cs typeface="Cambria" panose="02040503050406030204" pitchFamily="18" charset="0"/>
              </a:rPr>
              <a:t>('RGB')</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image = </a:t>
            </a:r>
            <a:r>
              <a:rPr lang="en-US" altLang="en-GB" sz="1600" dirty="0" err="1">
                <a:latin typeface="Cambria" panose="02040503050406030204" pitchFamily="18" charset="0"/>
                <a:cs typeface="Cambria" panose="02040503050406030204" pitchFamily="18" charset="0"/>
              </a:rPr>
              <a:t>image.resize</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target_size</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image_array</a:t>
            </a:r>
            <a:r>
              <a:rPr lang="en-US" altLang="en-GB" sz="1600" dirty="0">
                <a:latin typeface="Cambria" panose="02040503050406030204" pitchFamily="18" charset="0"/>
                <a:cs typeface="Cambria" panose="02040503050406030204" pitchFamily="18" charset="0"/>
              </a:rPr>
              <a:t> = </a:t>
            </a:r>
            <a:r>
              <a:rPr lang="en-US" altLang="en-GB" sz="1600" dirty="0" err="1">
                <a:latin typeface="Cambria" panose="02040503050406030204" pitchFamily="18" charset="0"/>
                <a:cs typeface="Cambria" panose="02040503050406030204" pitchFamily="18" charset="0"/>
              </a:rPr>
              <a:t>np.array</a:t>
            </a:r>
            <a:r>
              <a:rPr lang="en-US" altLang="en-GB" sz="1600" dirty="0">
                <a:latin typeface="Cambria" panose="02040503050406030204" pitchFamily="18" charset="0"/>
                <a:cs typeface="Cambria" panose="02040503050406030204" pitchFamily="18" charset="0"/>
              </a:rPr>
              <a:t>(image, </a:t>
            </a:r>
            <a:r>
              <a:rPr lang="en-US" altLang="en-GB" sz="1600" dirty="0" err="1">
                <a:latin typeface="Cambria" panose="02040503050406030204" pitchFamily="18" charset="0"/>
                <a:cs typeface="Cambria" panose="02040503050406030204" pitchFamily="18" charset="0"/>
              </a:rPr>
              <a:t>dtype</a:t>
            </a:r>
            <a:r>
              <a:rPr lang="en-US" altLang="en-GB" sz="1600" dirty="0">
                <a:latin typeface="Cambria" panose="02040503050406030204" pitchFamily="18" charset="0"/>
                <a:cs typeface="Cambria" panose="02040503050406030204" pitchFamily="18" charset="0"/>
              </a:rPr>
              <a:t>=np.float32) / 255.0  # normalize to [0,1]</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image_array</a:t>
            </a:r>
            <a:r>
              <a:rPr lang="en-US" altLang="en-GB" sz="1600" dirty="0">
                <a:latin typeface="Cambria" panose="02040503050406030204" pitchFamily="18" charset="0"/>
                <a:cs typeface="Cambria" panose="02040503050406030204" pitchFamily="18" charset="0"/>
              </a:rPr>
              <a:t> = </a:t>
            </a:r>
            <a:r>
              <a:rPr lang="en-US" altLang="en-GB" sz="1600" dirty="0" err="1">
                <a:latin typeface="Cambria" panose="02040503050406030204" pitchFamily="18" charset="0"/>
                <a:cs typeface="Cambria" panose="02040503050406030204" pitchFamily="18" charset="0"/>
              </a:rPr>
              <a:t>np.expand_dims</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image_array</a:t>
            </a:r>
            <a:r>
              <a:rPr lang="en-US" altLang="en-GB" sz="1600" dirty="0">
                <a:latin typeface="Cambria" panose="02040503050406030204" pitchFamily="18" charset="0"/>
                <a:cs typeface="Cambria" panose="02040503050406030204" pitchFamily="18" charset="0"/>
              </a:rPr>
              <a:t>, axis=0)  # add batch dim</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return </a:t>
            </a:r>
            <a:r>
              <a:rPr lang="en-US" altLang="en-GB" sz="1600" dirty="0" err="1">
                <a:latin typeface="Cambria" panose="02040503050406030204" pitchFamily="18" charset="0"/>
                <a:cs typeface="Cambria" panose="02040503050406030204" pitchFamily="18" charset="0"/>
              </a:rPr>
              <a:t>image_array</a:t>
            </a:r>
            <a:endParaRPr lang="en-US" altLang="en-GB" sz="1600" dirty="0">
              <a:latin typeface="Cambria" panose="02040503050406030204" pitchFamily="18" charset="0"/>
              <a:cs typeface="Cambria" panose="02040503050406030204" pitchFamily="18" charset="0"/>
            </a:endParaRPr>
          </a:p>
          <a:p>
            <a:pPr marL="76200" indent="0" algn="just">
              <a:buNone/>
            </a:pPr>
            <a:endParaRPr lang="en-US" altLang="en-GB" sz="1600" dirty="0">
              <a:latin typeface="Cambria" panose="02040503050406030204" pitchFamily="18" charset="0"/>
              <a:cs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Source Code Highlights</a:t>
            </a:r>
            <a:endParaRPr lang="en-US" altLang="en-GB" dirty="0">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a:xfrm>
            <a:off x="812800" y="614681"/>
            <a:ext cx="10668000" cy="4953000"/>
          </a:xfrm>
        </p:spPr>
        <p:txBody>
          <a:bodyPr>
            <a:noAutofit/>
          </a:bodyPr>
          <a:lstStyle/>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b="1" dirty="0">
                <a:latin typeface="Cambria" panose="02040503050406030204" pitchFamily="18" charset="0"/>
                <a:cs typeface="Cambria" panose="02040503050406030204" pitchFamily="18" charset="0"/>
              </a:rPr>
              <a:t>2</a:t>
            </a:r>
            <a:r>
              <a:rPr lang="en-IN" altLang="en-GB" sz="1600" b="1" dirty="0">
                <a:latin typeface="Cambria" panose="02040503050406030204" pitchFamily="18" charset="0"/>
                <a:cs typeface="Cambria" panose="02040503050406030204" pitchFamily="18" charset="0"/>
              </a:rPr>
              <a:t>. </a:t>
            </a:r>
            <a:r>
              <a:rPr lang="en-IN" sz="1600" b="1" dirty="0"/>
              <a:t>Main Model Definition Snippet</a:t>
            </a:r>
            <a:endParaRPr lang="en-IN" sz="1600" b="1" dirty="0"/>
          </a:p>
          <a:p>
            <a:pPr marL="76200" indent="0" algn="just">
              <a:lnSpc>
                <a:spcPct val="70000"/>
              </a:lnSpc>
              <a:buNone/>
            </a:pPr>
            <a:r>
              <a:rPr lang="en-US" altLang="en-GB" sz="1600" dirty="0">
                <a:latin typeface="Cambria" panose="02040503050406030204" pitchFamily="18" charset="0"/>
                <a:cs typeface="Cambria" panose="02040503050406030204" pitchFamily="18" charset="0"/>
              </a:rPr>
              <a:t>from </a:t>
            </a:r>
            <a:r>
              <a:rPr lang="en-US" altLang="en-GB" sz="1600" dirty="0" err="1">
                <a:latin typeface="Cambria" panose="02040503050406030204" pitchFamily="18" charset="0"/>
                <a:cs typeface="Cambria" panose="02040503050406030204" pitchFamily="18" charset="0"/>
              </a:rPr>
              <a:t>tensorflow</a:t>
            </a:r>
            <a:r>
              <a:rPr lang="en-US" altLang="en-GB" sz="1600" dirty="0">
                <a:latin typeface="Cambria" panose="02040503050406030204" pitchFamily="18" charset="0"/>
                <a:cs typeface="Cambria" panose="02040503050406030204" pitchFamily="18" charset="0"/>
              </a:rPr>
              <a:t> import </a:t>
            </a:r>
            <a:r>
              <a:rPr lang="en-US" altLang="en-GB" sz="1600" dirty="0" err="1">
                <a:latin typeface="Cambria" panose="02040503050406030204" pitchFamily="18" charset="0"/>
                <a:cs typeface="Cambria" panose="02040503050406030204" pitchFamily="18" charset="0"/>
              </a:rPr>
              <a:t>keras</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err="1">
                <a:latin typeface="Cambria" panose="02040503050406030204" pitchFamily="18" charset="0"/>
                <a:cs typeface="Cambria" panose="02040503050406030204" pitchFamily="18" charset="0"/>
              </a:rPr>
              <a:t>base_model</a:t>
            </a:r>
            <a:r>
              <a:rPr lang="en-US" altLang="en-GB" sz="1600" dirty="0">
                <a:latin typeface="Cambria" panose="02040503050406030204" pitchFamily="18" charset="0"/>
                <a:cs typeface="Cambria" panose="02040503050406030204" pitchFamily="18" charset="0"/>
              </a:rPr>
              <a:t> = keras.applications.MobileNetV2(</a:t>
            </a:r>
            <a:r>
              <a:rPr lang="en-US" altLang="en-GB" sz="1600" dirty="0" err="1">
                <a:latin typeface="Cambria" panose="02040503050406030204" pitchFamily="18" charset="0"/>
                <a:cs typeface="Cambria" panose="02040503050406030204" pitchFamily="18" charset="0"/>
              </a:rPr>
              <a:t>input_shape</a:t>
            </a:r>
            <a:r>
              <a:rPr lang="en-US" altLang="en-GB" sz="1600" dirty="0">
                <a:latin typeface="Cambria" panose="02040503050406030204" pitchFamily="18" charset="0"/>
                <a:cs typeface="Cambria" panose="02040503050406030204" pitchFamily="18" charset="0"/>
              </a:rPr>
              <a:t>=(224,224,3),</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include_top</a:t>
            </a:r>
            <a:r>
              <a:rPr lang="en-US" altLang="en-GB" sz="1600" dirty="0">
                <a:latin typeface="Cambria" panose="02040503050406030204" pitchFamily="18" charset="0"/>
                <a:cs typeface="Cambria" panose="02040503050406030204" pitchFamily="18" charset="0"/>
              </a:rPr>
              <a:t>=False,</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weights='</a:t>
            </a:r>
            <a:r>
              <a:rPr lang="en-US" altLang="en-GB" sz="1600" dirty="0" err="1">
                <a:latin typeface="Cambria" panose="02040503050406030204" pitchFamily="18" charset="0"/>
                <a:cs typeface="Cambria" panose="02040503050406030204" pitchFamily="18" charset="0"/>
              </a:rPr>
              <a:t>imagenet</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err="1">
                <a:latin typeface="Cambria" panose="02040503050406030204" pitchFamily="18" charset="0"/>
                <a:cs typeface="Cambria" panose="02040503050406030204" pitchFamily="18" charset="0"/>
              </a:rPr>
              <a:t>base_model.trainable</a:t>
            </a:r>
            <a:r>
              <a:rPr lang="en-US" altLang="en-GB" sz="1600" dirty="0">
                <a:latin typeface="Cambria" panose="02040503050406030204" pitchFamily="18" charset="0"/>
                <a:cs typeface="Cambria" panose="02040503050406030204" pitchFamily="18" charset="0"/>
              </a:rPr>
              <a:t> = False  # Freeze base layers</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model = </a:t>
            </a:r>
            <a:r>
              <a:rPr lang="en-US" altLang="en-GB" sz="1600" dirty="0" err="1">
                <a:latin typeface="Cambria" panose="02040503050406030204" pitchFamily="18" charset="0"/>
                <a:cs typeface="Cambria" panose="02040503050406030204" pitchFamily="18" charset="0"/>
              </a:rPr>
              <a:t>keras.Sequential</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base_model</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keras.layers.GlobalAveragePooling2D(),</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keras.layers.Dense</a:t>
            </a:r>
            <a:r>
              <a:rPr lang="en-US" altLang="en-GB" sz="1600" dirty="0">
                <a:latin typeface="Cambria" panose="02040503050406030204" pitchFamily="18" charset="0"/>
                <a:cs typeface="Cambria" panose="02040503050406030204" pitchFamily="18" charset="0"/>
              </a:rPr>
              <a:t>(128, activation='</a:t>
            </a:r>
            <a:r>
              <a:rPr lang="en-US" altLang="en-GB" sz="1600" dirty="0" err="1">
                <a:latin typeface="Cambria" panose="02040503050406030204" pitchFamily="18" charset="0"/>
                <a:cs typeface="Cambria" panose="02040503050406030204" pitchFamily="18" charset="0"/>
              </a:rPr>
              <a:t>relu</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keras.layers.Dropout</a:t>
            </a:r>
            <a:r>
              <a:rPr lang="en-US" altLang="en-GB" sz="1600" dirty="0">
                <a:latin typeface="Cambria" panose="02040503050406030204" pitchFamily="18" charset="0"/>
                <a:cs typeface="Cambria" panose="02040503050406030204" pitchFamily="18" charset="0"/>
              </a:rPr>
              <a:t>(0.5),</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keras.layers.Dense</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num_classes</a:t>
            </a:r>
            <a:r>
              <a:rPr lang="en-US" altLang="en-GB" sz="1600" dirty="0">
                <a:latin typeface="Cambria" panose="02040503050406030204" pitchFamily="18" charset="0"/>
                <a:cs typeface="Cambria" panose="02040503050406030204" pitchFamily="18" charset="0"/>
              </a:rPr>
              <a:t>, activation='</a:t>
            </a:r>
            <a:r>
              <a:rPr lang="en-US" altLang="en-GB" sz="1600" dirty="0" err="1">
                <a:latin typeface="Cambria" panose="02040503050406030204" pitchFamily="18" charset="0"/>
                <a:cs typeface="Cambria" panose="02040503050406030204" pitchFamily="18" charset="0"/>
              </a:rPr>
              <a:t>softmax</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err="1">
                <a:latin typeface="Cambria" panose="02040503050406030204" pitchFamily="18" charset="0"/>
                <a:cs typeface="Cambria" panose="02040503050406030204" pitchFamily="18" charset="0"/>
              </a:rPr>
              <a:t>model.compile</a:t>
            </a:r>
            <a:r>
              <a:rPr lang="en-US" altLang="en-GB" sz="1600" dirty="0">
                <a:latin typeface="Cambria" panose="02040503050406030204" pitchFamily="18" charset="0"/>
                <a:cs typeface="Cambria" panose="02040503050406030204" pitchFamily="18" charset="0"/>
              </a:rPr>
              <a:t>(optimizer='</a:t>
            </a:r>
            <a:r>
              <a:rPr lang="en-US" altLang="en-GB" sz="1600" dirty="0" err="1">
                <a:latin typeface="Cambria" panose="02040503050406030204" pitchFamily="18" charset="0"/>
                <a:cs typeface="Cambria" panose="02040503050406030204" pitchFamily="18" charset="0"/>
              </a:rPr>
              <a:t>adam</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loss='</a:t>
            </a:r>
            <a:r>
              <a:rPr lang="en-US" altLang="en-GB" sz="1600" dirty="0" err="1">
                <a:latin typeface="Cambria" panose="02040503050406030204" pitchFamily="18" charset="0"/>
                <a:cs typeface="Cambria" panose="02040503050406030204" pitchFamily="18" charset="0"/>
              </a:rPr>
              <a:t>categorical_crossentropy</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r>
              <a:rPr lang="en-US" altLang="en-GB" sz="1600" dirty="0">
                <a:latin typeface="Cambria" panose="02040503050406030204" pitchFamily="18" charset="0"/>
                <a:cs typeface="Cambria" panose="02040503050406030204" pitchFamily="18" charset="0"/>
              </a:rPr>
              <a:t>              metrics=['accuracy'])</a:t>
            </a:r>
            <a:endParaRPr lang="en-US" altLang="en-GB" sz="1600" dirty="0">
              <a:latin typeface="Cambria" panose="02040503050406030204" pitchFamily="18" charset="0"/>
              <a:cs typeface="Cambria" panose="02040503050406030204" pitchFamily="18" charset="0"/>
            </a:endParaRPr>
          </a:p>
          <a:p>
            <a:pPr marL="76200" indent="0" algn="just">
              <a:lnSpc>
                <a:spcPct val="70000"/>
              </a:lnSpc>
              <a:buNone/>
            </a:pPr>
            <a:endParaRPr lang="en-US" altLang="en-GB" sz="1600" dirty="0">
              <a:latin typeface="Cambria" panose="02040503050406030204" pitchFamily="18" charset="0"/>
              <a:cs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Source Code Highlights</a:t>
            </a:r>
            <a:endParaRPr lang="en-US" altLang="en-GB" dirty="0">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a:xfrm>
            <a:off x="812800" y="614681"/>
            <a:ext cx="10668000" cy="4953000"/>
          </a:xfrm>
        </p:spPr>
        <p:txBody>
          <a:bodyPr>
            <a:noAutofit/>
          </a:bodyPr>
          <a:lstStyle/>
          <a:p>
            <a:pPr marL="76200" indent="0" algn="just">
              <a:buNone/>
            </a:pPr>
            <a:endParaRPr lang="en-US" altLang="en-GB" sz="1600" dirty="0">
              <a:latin typeface="Cambria" panose="02040503050406030204" pitchFamily="18" charset="0"/>
              <a:cs typeface="Cambria" panose="02040503050406030204" pitchFamily="18" charset="0"/>
            </a:endParaRPr>
          </a:p>
          <a:p>
            <a:pPr marL="76200" indent="0" algn="just">
              <a:buNone/>
            </a:pP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b="1" dirty="0">
                <a:latin typeface="Cambria" panose="02040503050406030204" pitchFamily="18" charset="0"/>
                <a:cs typeface="Cambria" panose="02040503050406030204" pitchFamily="18" charset="0"/>
              </a:rPr>
              <a:t>3</a:t>
            </a:r>
            <a:r>
              <a:rPr lang="en-IN" altLang="en-GB" sz="1600" b="1" dirty="0">
                <a:latin typeface="Cambria" panose="02040503050406030204" pitchFamily="18" charset="0"/>
                <a:cs typeface="Cambria" panose="02040503050406030204" pitchFamily="18" charset="0"/>
              </a:rPr>
              <a:t>. </a:t>
            </a:r>
            <a:r>
              <a:rPr lang="en-IN" sz="1600" b="1" dirty="0"/>
              <a:t>Prediction Snippet</a:t>
            </a:r>
            <a:endParaRPr lang="en-IN" sz="1600" b="1" dirty="0"/>
          </a:p>
          <a:p>
            <a:pPr marL="76200" indent="0" algn="just">
              <a:buNone/>
            </a:pPr>
            <a:r>
              <a:rPr lang="en-US" altLang="en-GB" sz="1600" dirty="0">
                <a:latin typeface="Cambria" panose="02040503050406030204" pitchFamily="18" charset="0"/>
                <a:cs typeface="Cambria" panose="02040503050406030204" pitchFamily="18" charset="0"/>
              </a:rPr>
              <a:t>def </a:t>
            </a:r>
            <a:r>
              <a:rPr lang="en-US" altLang="en-GB" sz="1600" dirty="0" err="1">
                <a:latin typeface="Cambria" panose="02040503050406030204" pitchFamily="18" charset="0"/>
                <a:cs typeface="Cambria" panose="02040503050406030204" pitchFamily="18" charset="0"/>
              </a:rPr>
              <a:t>predict_disease</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image_path</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Load and preprocess image, predict with the model,</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and return predicted class and confidence.</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processed_image</a:t>
            </a:r>
            <a:r>
              <a:rPr lang="en-US" altLang="en-GB" sz="1600" dirty="0">
                <a:latin typeface="Cambria" panose="02040503050406030204" pitchFamily="18" charset="0"/>
                <a:cs typeface="Cambria" panose="02040503050406030204" pitchFamily="18" charset="0"/>
              </a:rPr>
              <a:t> = </a:t>
            </a:r>
            <a:r>
              <a:rPr lang="en-US" altLang="en-GB" sz="1600" dirty="0" err="1">
                <a:latin typeface="Cambria" panose="02040503050406030204" pitchFamily="18" charset="0"/>
                <a:cs typeface="Cambria" panose="02040503050406030204" pitchFamily="18" charset="0"/>
              </a:rPr>
              <a:t>preprocess_image</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image_path</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predictions = </a:t>
            </a:r>
            <a:r>
              <a:rPr lang="en-US" altLang="en-GB" sz="1600" dirty="0" err="1">
                <a:latin typeface="Cambria" panose="02040503050406030204" pitchFamily="18" charset="0"/>
                <a:cs typeface="Cambria" panose="02040503050406030204" pitchFamily="18" charset="0"/>
              </a:rPr>
              <a:t>model.predict</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processed_image</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idx</a:t>
            </a:r>
            <a:r>
              <a:rPr lang="en-US" altLang="en-GB" sz="1600" dirty="0">
                <a:latin typeface="Cambria" panose="02040503050406030204" pitchFamily="18" charset="0"/>
                <a:cs typeface="Cambria" panose="02040503050406030204" pitchFamily="18" charset="0"/>
              </a:rPr>
              <a:t> = </a:t>
            </a:r>
            <a:r>
              <a:rPr lang="en-US" altLang="en-GB" sz="1600" dirty="0" err="1">
                <a:latin typeface="Cambria" panose="02040503050406030204" pitchFamily="18" charset="0"/>
                <a:cs typeface="Cambria" panose="02040503050406030204" pitchFamily="18" charset="0"/>
              </a:rPr>
              <a:t>np.argmax</a:t>
            </a:r>
            <a:r>
              <a:rPr lang="en-US" altLang="en-GB" sz="1600" dirty="0">
                <a:latin typeface="Cambria" panose="02040503050406030204" pitchFamily="18" charset="0"/>
                <a:cs typeface="Cambria" panose="02040503050406030204" pitchFamily="18" charset="0"/>
              </a:rPr>
              <a:t>(predictions[0])</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confidence = predictions[0][</a:t>
            </a:r>
            <a:r>
              <a:rPr lang="en-US" altLang="en-GB" sz="1600" dirty="0" err="1">
                <a:latin typeface="Cambria" panose="02040503050406030204" pitchFamily="18" charset="0"/>
                <a:cs typeface="Cambria" panose="02040503050406030204" pitchFamily="18" charset="0"/>
              </a:rPr>
              <a:t>idx</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a:t>
            </a:r>
            <a:r>
              <a:rPr lang="en-US" altLang="en-GB" sz="1600" dirty="0" err="1">
                <a:latin typeface="Cambria" panose="02040503050406030204" pitchFamily="18" charset="0"/>
                <a:cs typeface="Cambria" panose="02040503050406030204" pitchFamily="18" charset="0"/>
              </a:rPr>
              <a:t>predicted_class</a:t>
            </a:r>
            <a:r>
              <a:rPr lang="en-US" altLang="en-GB" sz="1600" dirty="0">
                <a:latin typeface="Cambria" panose="02040503050406030204" pitchFamily="18" charset="0"/>
                <a:cs typeface="Cambria" panose="02040503050406030204" pitchFamily="18" charset="0"/>
              </a:rPr>
              <a:t> = </a:t>
            </a:r>
            <a:r>
              <a:rPr lang="en-US" altLang="en-GB" sz="1600" dirty="0" err="1">
                <a:latin typeface="Cambria" panose="02040503050406030204" pitchFamily="18" charset="0"/>
                <a:cs typeface="Cambria" panose="02040503050406030204" pitchFamily="18" charset="0"/>
              </a:rPr>
              <a:t>class_names</a:t>
            </a:r>
            <a:r>
              <a:rPr lang="en-US" altLang="en-GB" sz="1600" dirty="0">
                <a:latin typeface="Cambria" panose="02040503050406030204" pitchFamily="18" charset="0"/>
                <a:cs typeface="Cambria" panose="02040503050406030204" pitchFamily="18" charset="0"/>
              </a:rPr>
              <a:t>[</a:t>
            </a:r>
            <a:r>
              <a:rPr lang="en-US" altLang="en-GB" sz="1600" dirty="0" err="1">
                <a:latin typeface="Cambria" panose="02040503050406030204" pitchFamily="18" charset="0"/>
                <a:cs typeface="Cambria" panose="02040503050406030204" pitchFamily="18" charset="0"/>
              </a:rPr>
              <a:t>idx</a:t>
            </a:r>
            <a:r>
              <a:rPr lang="en-US" altLang="en-GB" sz="1600" dirty="0">
                <a:latin typeface="Cambria" panose="02040503050406030204" pitchFamily="18" charset="0"/>
                <a:cs typeface="Cambria" panose="02040503050406030204" pitchFamily="18" charset="0"/>
              </a:rPr>
              <a:t>]</a:t>
            </a:r>
            <a:endParaRPr lang="en-US" altLang="en-GB" sz="1600" dirty="0">
              <a:latin typeface="Cambria" panose="02040503050406030204" pitchFamily="18" charset="0"/>
              <a:cs typeface="Cambria" panose="02040503050406030204" pitchFamily="18" charset="0"/>
            </a:endParaRPr>
          </a:p>
          <a:p>
            <a:pPr marL="76200" indent="0" algn="just">
              <a:buNone/>
            </a:pPr>
            <a:r>
              <a:rPr lang="en-US" altLang="en-GB" sz="1600" dirty="0">
                <a:latin typeface="Cambria" panose="02040503050406030204" pitchFamily="18" charset="0"/>
                <a:cs typeface="Cambria" panose="02040503050406030204" pitchFamily="18" charset="0"/>
              </a:rPr>
              <a:t>    return </a:t>
            </a:r>
            <a:r>
              <a:rPr lang="en-US" altLang="en-GB" sz="1600" dirty="0" err="1">
                <a:latin typeface="Cambria" panose="02040503050406030204" pitchFamily="18" charset="0"/>
                <a:cs typeface="Cambria" panose="02040503050406030204" pitchFamily="18" charset="0"/>
              </a:rPr>
              <a:t>predicted_class</a:t>
            </a:r>
            <a:r>
              <a:rPr lang="en-US" altLang="en-GB" sz="1600" dirty="0">
                <a:latin typeface="Cambria" panose="02040503050406030204" pitchFamily="18" charset="0"/>
                <a:cs typeface="Cambria" panose="02040503050406030204" pitchFamily="18" charset="0"/>
              </a:rPr>
              <a:t>, confidence</a:t>
            </a:r>
            <a:endParaRPr lang="en-US" altLang="en-GB" sz="1600" dirty="0">
              <a:latin typeface="Cambria" panose="02040503050406030204" pitchFamily="18" charset="0"/>
              <a:cs typeface="Cambria" panose="02040503050406030204" pitchFamily="18" charset="0"/>
            </a:endParaRPr>
          </a:p>
          <a:p>
            <a:pPr marL="76200" indent="0" algn="just">
              <a:buNone/>
            </a:pPr>
            <a:endParaRPr lang="en-US" altLang="en-GB" sz="1600" dirty="0">
              <a:latin typeface="Cambria" panose="02040503050406030204" pitchFamily="18" charset="0"/>
              <a:cs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tLang="en-GB" dirty="0">
                <a:latin typeface="Cambria" panose="02040503050406030204" pitchFamily="18" charset="0"/>
                <a:ea typeface="Cambria" panose="02040503050406030204" pitchFamily="18" charset="0"/>
                <a:sym typeface="+mn-ea"/>
              </a:rPr>
              <a:t>Hardware and Software Details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838835"/>
            <a:ext cx="11379200" cy="55314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170000"/>
              </a:lnSpc>
              <a:spcBef>
                <a:spcPts val="0"/>
              </a:spcBef>
              <a:buSzPct val="100000"/>
              <a:buFont typeface="Arial" panose="020B0604020202020204"/>
              <a:buNone/>
            </a:pP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buFont typeface="Arial" panose="020B0604020202020204"/>
              <a:buNone/>
            </a:pPr>
            <a:r>
              <a:rPr lang="en-US" altLang="en-GB" sz="1600" b="1" dirty="0">
                <a:latin typeface="Cambria" panose="02040503050406030204" pitchFamily="18" charset="0"/>
                <a:ea typeface="Cambria" panose="02040503050406030204" pitchFamily="18" charset="0"/>
              </a:rPr>
              <a:t>Hardware Requirements</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Android Smartphone (image capture &amp; testing).</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Laptop / Cloud Server (for model training &amp; API hosting).</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Standard Phone Camera (sufficient for disease image capture).</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buFont typeface="Arial" panose="020B0604020202020204"/>
              <a:buNone/>
            </a:pPr>
            <a:r>
              <a:rPr lang="en-US" altLang="en-GB" sz="1600" b="1" dirty="0">
                <a:latin typeface="Cambria" panose="02040503050406030204" pitchFamily="18" charset="0"/>
                <a:ea typeface="Cambria" panose="02040503050406030204" pitchFamily="18" charset="0"/>
              </a:rPr>
              <a:t>Software Requirements</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Programming Languages: Python, JavaScript (React Native).</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Libraries/Frameworks: TensorFlow/Keras, OpenCV, FastAPI.</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Frontend: React Native (mobile app).</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Backend: FastAPI (REST API).</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pPr>
            <a:r>
              <a:rPr lang="en-US" altLang="en-GB" sz="1600" dirty="0">
                <a:latin typeface="Cambria" panose="02040503050406030204" pitchFamily="18" charset="0"/>
                <a:ea typeface="Cambria" panose="02040503050406030204" pitchFamily="18" charset="0"/>
              </a:rPr>
              <a:t>Deployment Tools: GitHub, Render (cloud hosting).</a:t>
            </a:r>
            <a:endParaRPr lang="en-US" altLang="en-GB" sz="1600" dirty="0">
              <a:latin typeface="Cambria" panose="02040503050406030204" pitchFamily="18" charset="0"/>
              <a:ea typeface="Cambria" panose="02040503050406030204" pitchFamily="18" charset="0"/>
            </a:endParaRPr>
          </a:p>
          <a:p>
            <a:pPr marL="342900" indent="-190500" algn="just">
              <a:lnSpc>
                <a:spcPct val="170000"/>
              </a:lnSpc>
              <a:spcBef>
                <a:spcPts val="0"/>
              </a:spcBef>
              <a:buSzPct val="100000"/>
              <a:buFont typeface="Arial" panose="020B0604020202020204"/>
              <a:buNone/>
            </a:pPr>
            <a:r>
              <a:rPr lang="en-US" altLang="en-GB" sz="1600" b="1" dirty="0">
                <a:latin typeface="Cambria" panose="02040503050406030204" pitchFamily="18" charset="0"/>
                <a:ea typeface="Cambria" panose="02040503050406030204" pitchFamily="18" charset="0"/>
              </a:rPr>
              <a:t>Others</a:t>
            </a:r>
            <a:r>
              <a:rPr lang="en-US" altLang="en-GB" sz="1600" dirty="0">
                <a:latin typeface="Cambria" panose="02040503050406030204" pitchFamily="18" charset="0"/>
                <a:ea typeface="Cambria" panose="02040503050406030204" pitchFamily="18" charset="0"/>
              </a:rPr>
              <a:t>: Google Colab (model training), JSON (suggestion storage).</a:t>
            </a:r>
            <a:endParaRPr lang="en-US" altLang="en-GB" sz="1600"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2" name="Table 1"/>
          <p:cNvGraphicFramePr/>
          <p:nvPr>
            <p:custDataLst>
              <p:tags r:id="rId1"/>
            </p:custDataLst>
          </p:nvPr>
        </p:nvGraphicFramePr>
        <p:xfrm>
          <a:off x="810895" y="1044575"/>
          <a:ext cx="10739120" cy="4599940"/>
        </p:xfrm>
        <a:graphic>
          <a:graphicData uri="http://schemas.openxmlformats.org/drawingml/2006/table">
            <a:tbl>
              <a:tblPr/>
              <a:tblGrid>
                <a:gridCol w="1342390"/>
                <a:gridCol w="1342390"/>
                <a:gridCol w="1342390"/>
                <a:gridCol w="1342390"/>
                <a:gridCol w="1342390"/>
                <a:gridCol w="1342390"/>
                <a:gridCol w="1342390"/>
                <a:gridCol w="1342390"/>
              </a:tblGrid>
              <a:tr h="307340">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tcPr>
                </a:tc>
              </a:tr>
              <a:tr h="612775">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tcPr>
                </a:tc>
              </a:tr>
              <a:tr h="612775">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tcPr>
                </a:tc>
              </a:tr>
              <a:tr h="614045">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tcPr>
                </a:tc>
              </a:tr>
              <a:tr h="612775">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tcPr>
                </a:tc>
              </a:tr>
              <a:tr h="612775">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tcPr>
                </a:tc>
              </a:tr>
              <a:tr h="307340">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tcPr>
                </a:tc>
              </a:tr>
              <a:tr h="307340">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tcPr>
                </a:tc>
              </a:tr>
              <a:tr h="612775">
                <a:tc>
                  <a:txBody>
                    <a:bodyPr/>
                    <a:lstStyle/>
                    <a:p>
                      <a:endParaRPr lang="en-US" altLang="zh-CN"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lnR>
                      <a:noFill/>
                    </a:lnR>
                    <a:lnT>
                      <a:noFill/>
                    </a:lnT>
                    <a:lnB>
                      <a:noFill/>
                    </a:lnB>
                    <a:noFill/>
                  </a:tcPr>
                </a:tc>
                <a:tc>
                  <a:txBody>
                    <a:bodyPr/>
                    <a:lstStyle/>
                    <a:p>
                      <a:endParaRPr lang="en-US" altLang="zh-CN" sz="1100"/>
                    </a:p>
                  </a:txBody>
                  <a:tcPr marL="0" marR="0" marT="0" marB="0" anchor="ctr">
                    <a:lnL>
                      <a:noFill/>
                    </a:lnL>
                  </a:tcPr>
                </a:tc>
              </a:tr>
            </a:tbl>
          </a:graphicData>
        </a:graphic>
      </p:graphicFrame>
      <p:graphicFrame>
        <p:nvGraphicFramePr>
          <p:cNvPr id="4" name="Table 3"/>
          <p:cNvGraphicFramePr/>
          <p:nvPr>
            <p:custDataLst>
              <p:tags r:id="rId2"/>
            </p:custDataLst>
          </p:nvPr>
        </p:nvGraphicFramePr>
        <p:xfrm>
          <a:off x="810895" y="1043940"/>
          <a:ext cx="10743565" cy="4869180"/>
        </p:xfrm>
        <a:graphic>
          <a:graphicData uri="http://schemas.openxmlformats.org/drawingml/2006/table">
            <a:tbl>
              <a:tblPr firstRow="1" bandRow="1">
                <a:tableStyleId>{5C22544A-7EE6-4342-B048-85BDC9FD1C3A}</a:tableStyleId>
              </a:tblPr>
              <a:tblGrid>
                <a:gridCol w="1534795"/>
                <a:gridCol w="1534795"/>
                <a:gridCol w="1534795"/>
                <a:gridCol w="1534795"/>
                <a:gridCol w="1534795"/>
                <a:gridCol w="1534795"/>
                <a:gridCol w="1534795"/>
              </a:tblGrid>
              <a:tr h="422275">
                <a:tc>
                  <a:txBody>
                    <a:bodyPr/>
                    <a:lstStyle/>
                    <a:p>
                      <a:r>
                        <a:rPr lang="en-US" altLang="zh-CN" sz="1100"/>
                        <a:t>Task</a:t>
                      </a:r>
                      <a:endParaRPr lang="en-US" altLang="zh-CN" sz="1100"/>
                    </a:p>
                  </a:txBody>
                  <a:tcPr marL="0" marR="0" marT="0" marB="0" anchor="ctr"/>
                </a:tc>
                <a:tc>
                  <a:txBody>
                    <a:bodyPr/>
                    <a:lstStyle/>
                    <a:p>
                      <a:r>
                        <a:rPr lang="en-US" altLang="zh-CN" sz="1100"/>
                        <a:t>Week 1–2</a:t>
                      </a:r>
                      <a:endParaRPr lang="en-US" altLang="zh-CN" sz="1100"/>
                    </a:p>
                  </a:txBody>
                  <a:tcPr marL="0" marR="0" marT="0" marB="0" anchor="ctr"/>
                </a:tc>
                <a:tc>
                  <a:txBody>
                    <a:bodyPr/>
                    <a:lstStyle/>
                    <a:p>
                      <a:r>
                        <a:rPr lang="en-US" altLang="zh-CN" sz="1100"/>
                        <a:t>Week 3–4</a:t>
                      </a:r>
                      <a:endParaRPr lang="en-US" altLang="zh-CN" sz="1100"/>
                    </a:p>
                  </a:txBody>
                  <a:tcPr marL="0" marR="0" marT="0" marB="0" anchor="ctr"/>
                </a:tc>
                <a:tc>
                  <a:txBody>
                    <a:bodyPr/>
                    <a:lstStyle/>
                    <a:p>
                      <a:r>
                        <a:rPr lang="en-US" altLang="zh-CN" sz="1100"/>
                        <a:t>Week 5–6</a:t>
                      </a:r>
                      <a:endParaRPr lang="en-US" altLang="zh-CN" sz="1100"/>
                    </a:p>
                  </a:txBody>
                  <a:tcPr marL="0" marR="0" marT="0" marB="0" anchor="ctr"/>
                </a:tc>
                <a:tc>
                  <a:txBody>
                    <a:bodyPr/>
                    <a:lstStyle/>
                    <a:p>
                      <a:r>
                        <a:rPr lang="en-US" altLang="zh-CN" sz="1100"/>
                        <a:t>Week 7–8</a:t>
                      </a:r>
                      <a:endParaRPr lang="en-US" altLang="zh-CN" sz="1100"/>
                    </a:p>
                  </a:txBody>
                  <a:tcPr marL="0" marR="0" marT="0" marB="0" anchor="ctr"/>
                </a:tc>
                <a:tc>
                  <a:txBody>
                    <a:bodyPr/>
                    <a:lstStyle/>
                    <a:p>
                      <a:r>
                        <a:rPr lang="en-US" altLang="zh-CN" sz="1100"/>
                        <a:t>Week 9–10</a:t>
                      </a:r>
                      <a:endParaRPr lang="en-US" altLang="zh-CN" sz="1100"/>
                    </a:p>
                  </a:txBody>
                  <a:tcPr marL="0" marR="0" marT="0" marB="0" anchor="ctr"/>
                </a:tc>
                <a:tc>
                  <a:txBody>
                    <a:bodyPr/>
                    <a:lstStyle/>
                    <a:p>
                      <a:r>
                        <a:rPr lang="en-US" altLang="zh-CN" sz="1100"/>
                        <a:t>Week 11–12</a:t>
                      </a:r>
                      <a:endParaRPr lang="en-US" altLang="zh-CN" sz="1100"/>
                    </a:p>
                  </a:txBody>
                  <a:tcPr marL="0" marR="0" marT="0" marB="0" anchor="ctr"/>
                </a:tc>
              </a:tr>
              <a:tr h="422910">
                <a:tc>
                  <a:txBody>
                    <a:bodyPr/>
                    <a:lstStyle/>
                    <a:p>
                      <a:r>
                        <a:rPr lang="en-US" altLang="zh-CN" sz="1100"/>
                        <a:t>Literature Review &amp; Problem Analysis</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r>
              <a:tr h="422910">
                <a:tc>
                  <a:txBody>
                    <a:bodyPr/>
                    <a:lstStyle/>
                    <a:p>
                      <a:r>
                        <a:rPr lang="en-US" altLang="zh-CN" sz="1100"/>
                        <a:t>Dataset Collection &amp; Preprocessing</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r>
              <a:tr h="422910">
                <a:tc>
                  <a:txBody>
                    <a:bodyPr/>
                    <a:lstStyle/>
                    <a:p>
                      <a:r>
                        <a:rPr lang="en-US" altLang="zh-CN" sz="1100"/>
                        <a:t>AI Model Training &amp; Evaluation</a:t>
                      </a:r>
                      <a:endParaRPr lang="en-US" altLang="zh-CN" sz="1100"/>
                    </a:p>
                  </a:txBody>
                  <a:tcPr marL="0" marR="0" marT="0" marB="0" anchor="ctr"/>
                </a:tc>
                <a:tc>
                  <a:txBody>
                    <a:bodyPr/>
                    <a:lstStyle/>
                    <a:p>
                      <a:endParaRPr sz="1100"/>
                    </a:p>
                  </a:txBody>
                  <a:tcPr marL="0" marR="0" marT="0" marB="0" anchor="ctr"/>
                </a:tc>
                <a:tc>
                  <a:txBody>
                    <a:bodyPr/>
                    <a:lstStyle/>
                    <a:p>
                      <a:r>
                        <a:rPr lang="en-US" altLang="zh-CN" sz="1100"/>
                        <a:t>████</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r>
              <a:tr h="422275">
                <a:tc>
                  <a:txBody>
                    <a:bodyPr/>
                    <a:lstStyle/>
                    <a:p>
                      <a:r>
                        <a:rPr lang="en-US" altLang="zh-CN" sz="1100"/>
                        <a:t>Backend API Development</a:t>
                      </a:r>
                      <a:endParaRPr lang="en-US" altLang="zh-CN" sz="1100"/>
                    </a:p>
                  </a:txBody>
                  <a:tcPr marL="0" marR="0" marT="0" marB="0" anchor="ctr"/>
                </a:tc>
                <a:tc>
                  <a:txBody>
                    <a:bodyPr/>
                    <a:lstStyle/>
                    <a:p>
                      <a:endParaRPr sz="1100"/>
                    </a:p>
                  </a:txBody>
                  <a:tcPr marL="0" marR="0" marT="0" marB="0" anchor="ctr"/>
                </a:tc>
                <a:tc>
                  <a:txBody>
                    <a:bodyPr/>
                    <a:lstStyle/>
                    <a:p>
                      <a:r>
                        <a:rPr lang="en-US" altLang="zh-CN" sz="1100"/>
                        <a:t>████</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r>
              <a:tr h="422910">
                <a:tc>
                  <a:txBody>
                    <a:bodyPr/>
                    <a:lstStyle/>
                    <a:p>
                      <a:r>
                        <a:rPr lang="en-US" altLang="zh-CN" sz="1100"/>
                        <a:t>Mobile App (React Native)</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r>
                        <a:rPr lang="en-US" altLang="zh-CN" sz="1100"/>
                        <a:t>████</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r>
              <a:tr h="422275">
                <a:tc>
                  <a:txBody>
                    <a:bodyPr/>
                    <a:lstStyle/>
                    <a:p>
                      <a:r>
                        <a:rPr lang="en-US" altLang="zh-CN" sz="1100"/>
                        <a:t>Integration (Model + API + App)</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r>
                        <a:rPr lang="en-US" altLang="zh-CN" sz="1100"/>
                        <a:t>████</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endParaRPr sz="1100"/>
                    </a:p>
                  </a:txBody>
                  <a:tcPr marL="0" marR="0" marT="0" marB="0" anchor="ctr"/>
                </a:tc>
              </a:tr>
              <a:tr h="558165">
                <a:tc>
                  <a:txBody>
                    <a:bodyPr/>
                    <a:lstStyle/>
                    <a:p>
                      <a:r>
                        <a:rPr lang="en-US" altLang="zh-CN" sz="1100"/>
                        <a:t>Performance Evaluation (Latency Testing)</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r>
                        <a:rPr lang="en-US" altLang="zh-CN" sz="1100"/>
                        <a:t>████</a:t>
                      </a:r>
                      <a:endParaRPr lang="en-US" altLang="zh-CN" sz="1100"/>
                    </a:p>
                  </a:txBody>
                  <a:tcPr marL="0" marR="0" marT="0" marB="0" anchor="ctr"/>
                </a:tc>
                <a:tc>
                  <a:txBody>
                    <a:bodyPr/>
                    <a:lstStyle/>
                    <a:p>
                      <a:r>
                        <a:rPr lang="en-US" altLang="zh-CN" sz="1100"/>
                        <a:t>████</a:t>
                      </a:r>
                      <a:endParaRPr lang="en-US" altLang="zh-CN" sz="1100"/>
                    </a:p>
                  </a:txBody>
                  <a:tcPr marL="0" marR="0" marT="0" marB="0" anchor="ctr"/>
                </a:tc>
                <a:tc>
                  <a:txBody>
                    <a:bodyPr/>
                    <a:lstStyle/>
                    <a:p>
                      <a:endParaRPr sz="1100"/>
                    </a:p>
                  </a:txBody>
                  <a:tcPr marL="0" marR="0" marT="0" marB="0" anchor="ctr"/>
                </a:tc>
              </a:tr>
              <a:tr h="930275">
                <a:tc>
                  <a:txBody>
                    <a:bodyPr/>
                    <a:lstStyle/>
                    <a:p>
                      <a:r>
                        <a:rPr lang="en-US" altLang="zh-CN" sz="1100"/>
                        <a:t>Future Enhancements (Severity Estimation, Explainability, API)</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r>
                        <a:rPr lang="en-US" altLang="zh-CN" sz="1100"/>
                        <a:t>████</a:t>
                      </a:r>
                      <a:endParaRPr lang="en-US" altLang="zh-CN" sz="1100"/>
                    </a:p>
                  </a:txBody>
                  <a:tcPr marL="0" marR="0" marT="0" marB="0" anchor="ctr"/>
                </a:tc>
                <a:tc>
                  <a:txBody>
                    <a:bodyPr/>
                    <a:lstStyle/>
                    <a:p>
                      <a:r>
                        <a:rPr lang="en-US" altLang="zh-CN" sz="1100"/>
                        <a:t>████</a:t>
                      </a:r>
                      <a:endParaRPr lang="en-US" altLang="zh-CN" sz="1100"/>
                    </a:p>
                  </a:txBody>
                  <a:tcPr marL="0" marR="0" marT="0" marB="0" anchor="ctr"/>
                </a:tc>
              </a:tr>
              <a:tr h="422275">
                <a:tc>
                  <a:txBody>
                    <a:bodyPr/>
                    <a:lstStyle/>
                    <a:p>
                      <a:r>
                        <a:rPr lang="en-US" altLang="zh-CN" sz="1100"/>
                        <a:t>Final Deployment &amp; Documentation</a:t>
                      </a:r>
                      <a:endParaRPr lang="en-US" altLang="zh-CN"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endParaRPr sz="1100"/>
                    </a:p>
                  </a:txBody>
                  <a:tcPr marL="0" marR="0" marT="0" marB="0" anchor="ctr"/>
                </a:tc>
                <a:tc>
                  <a:txBody>
                    <a:bodyPr/>
                    <a:lstStyle/>
                    <a:p>
                      <a:r>
                        <a:rPr lang="en-US" altLang="zh-CN" sz="1100"/>
                        <a:t>████</a:t>
                      </a:r>
                      <a:endParaRPr lang="en-US" altLang="zh-CN" sz="1100"/>
                    </a:p>
                  </a:txBody>
                  <a:tcPr marL="0" marR="0" marT="0" marB="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50000" lnSpcReduction="20000"/>
          </a:bodyPr>
          <a:lstStyle/>
          <a:p>
            <a:pPr marL="152400" indent="0" algn="just">
              <a:spcBef>
                <a:spcPts val="0"/>
              </a:spcBef>
              <a:buNone/>
            </a:pPr>
            <a:r>
              <a:rPr lang="en-US" altLang="en-GB" dirty="0">
                <a:latin typeface="Cambria" panose="02040503050406030204" pitchFamily="18" charset="0"/>
                <a:ea typeface="Cambria" panose="02040503050406030204" pitchFamily="18" charset="0"/>
              </a:rPr>
              <a:t>[1] S. Mohanty, D. Hughes, and M. Salath</a:t>
            </a:r>
            <a:r>
              <a:rPr lang="en-US" altLang="en-US" dirty="0">
                <a:latin typeface="Cambria" panose="02040503050406030204" pitchFamily="18" charset="0"/>
                <a:ea typeface="Cambria" panose="02040503050406030204" pitchFamily="18" charset="0"/>
              </a:rPr>
              <a:t>é</a:t>
            </a:r>
            <a:r>
              <a:rPr lang="en-US" altLang="en-GB" dirty="0">
                <a:latin typeface="Cambria" panose="02040503050406030204" pitchFamily="18" charset="0"/>
                <a:ea typeface="Cambria" panose="02040503050406030204" pitchFamily="18" charset="0"/>
              </a:rPr>
              <a:t>, “Using deep learning for image-based plant disease detection,” Frontiers in Plant Science, vol. 7, p. 1419, Oct. 2016.</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[2] K. P. Ferentinos, “Deep learning models for plant disease detection and diagnosis,” Computers and Electronics in Agriculture, vol. 145, pp. 311–318, Feb. 2018.</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[3] M. A. Khan, et al., “Lightweight deep learning models for plant disease detection on mobile and edge devices,” IEEE Access, vol. 11, pp. 56012–56024, 2023.</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[4] W. Ding, et al., “Prescription recommendation for crop diseases using retrieval-based models,” Knowledge-Based Systems, vol. 260, p. 110136, 2023.</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[5] P. Bedi, et al., “PDSE-Lite: A lightweight model for plant disease severity estimation,” Computers and Electronics in Agriculture, vol. 216, p. 108362, 2024.</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[6] Z. Wu, et al., “Unsupervised domain adaptation for plant disease recognition in real field conditions,” IEEE Transactions on Artificial Intelligence, vol. 4, no. 5, pp. 789–802, 2023.</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[7] M. Tan and Q. Le, “EfficientNet: Rethinking model scaling for convolutional neural networks,” Proc. 36th ICML, 2019.</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[8] A. Kumar, B. Patel, and C. Zhang, “Ensemble deep learning models for plant disease classification,” Applied Soft Computing, vol. 135, p. 110026, 2024.</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[9] H. Alhammad, et al., “Explainable AI for plant disease classification using Grad-CAM,” IEEE Access, vol. 13, pp. 34567–34579, 2025.</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[10] L. Rodr</a:t>
            </a:r>
            <a:r>
              <a:rPr lang="en-US" altLang="en-US" dirty="0">
                <a:latin typeface="Cambria" panose="02040503050406030204" pitchFamily="18" charset="0"/>
                <a:ea typeface="Cambria" panose="02040503050406030204" pitchFamily="18" charset="0"/>
              </a:rPr>
              <a:t>í</a:t>
            </a:r>
            <a:r>
              <a:rPr lang="en-US" altLang="en-GB" dirty="0">
                <a:latin typeface="Cambria" panose="02040503050406030204" pitchFamily="18" charset="0"/>
                <a:ea typeface="Cambria" panose="02040503050406030204" pitchFamily="18" charset="0"/>
              </a:rPr>
              <a:t>guez-Garc</a:t>
            </a:r>
            <a:r>
              <a:rPr lang="en-US" altLang="en-US" dirty="0">
                <a:latin typeface="Cambria" panose="02040503050406030204" pitchFamily="18" charset="0"/>
                <a:ea typeface="Cambria" panose="02040503050406030204" pitchFamily="18" charset="0"/>
              </a:rPr>
              <a:t>í</a:t>
            </a:r>
            <a:r>
              <a:rPr lang="en-US" altLang="en-GB" dirty="0">
                <a:latin typeface="Cambria" panose="02040503050406030204" pitchFamily="18" charset="0"/>
                <a:ea typeface="Cambria" panose="02040503050406030204" pitchFamily="18" charset="0"/>
              </a:rPr>
              <a:t>a, et al., “Knowledge-based systems for crop pest and disease management,” Expert Systems with Applications, vol. 176, p. 114921, 2021.</a:t>
            </a:r>
            <a:endParaRPr lang="en-US" altLang="en-GB" dirty="0">
              <a:latin typeface="Cambria" panose="02040503050406030204" pitchFamily="18" charset="0"/>
              <a:ea typeface="Cambria" panose="02040503050406030204" pitchFamily="18" charset="0"/>
            </a:endParaRPr>
          </a:p>
          <a:p>
            <a:pPr marL="152400" indent="0" algn="just">
              <a:spcBef>
                <a:spcPts val="0"/>
              </a:spcBef>
              <a:buNone/>
            </a:pPr>
            <a:endParaRPr lang="en-US" altLang="en-GB" dirty="0">
              <a:latin typeface="Cambria" panose="02040503050406030204" pitchFamily="18" charset="0"/>
              <a:ea typeface="Cambria" panose="02040503050406030204" pitchFamily="18" charset="0"/>
            </a:endParaRPr>
          </a:p>
          <a:p>
            <a:pPr marL="152400" indent="0" algn="just">
              <a:spcBef>
                <a:spcPts val="0"/>
              </a:spcBef>
              <a:buNone/>
            </a:pPr>
            <a:r>
              <a:rPr lang="en-US" altLang="en-GB" dirty="0">
                <a:latin typeface="Cambria" panose="02040503050406030204" pitchFamily="18" charset="0"/>
                <a:ea typeface="Cambria" panose="02040503050406030204" pitchFamily="18" charset="0"/>
              </a:rPr>
              <a:t>[11] Y. Chen, et al., “PlantCareNet: An integrated platform for disease detection, severity estimation, and prescription recommendation,” Frontiers in AI in Agriculture, vol. 3, pp. 45–58, 2025.</a:t>
            </a:r>
            <a:endParaRPr lang="en-US" altLang="en-GB" dirty="0">
              <a:latin typeface="Cambria" panose="02040503050406030204" pitchFamily="18" charset="0"/>
              <a:ea typeface="Cambria" panose="0204050305040603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381*152"/>
  <p:tag name="TABLE_ENDDRAG_RECT" val="62*197*381*152"/>
</p:tagLst>
</file>

<file path=ppt/tags/tag2.xml><?xml version="1.0" encoding="utf-8"?>
<p:tagLst xmlns:p="http://schemas.openxmlformats.org/presentationml/2006/main">
  <p:tag name="TABLE_ENDDRAG_ORIGIN_RECT" val="845*362"/>
  <p:tag name="TABLE_ENDDRAG_RECT" val="63*82*845*362"/>
</p:tagLst>
</file>

<file path=ppt/tags/tag3.xml><?xml version="1.0" encoding="utf-8"?>
<p:tagLst xmlns:p="http://schemas.openxmlformats.org/presentationml/2006/main">
  <p:tag name="TABLE_ENDDRAG_ORIGIN_RECT" val="845*383"/>
  <p:tag name="TABLE_ENDDRAG_RECT" val="63*82*845*383"/>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12525</Words>
  <Application>WPS Presentation</Application>
  <PresentationFormat>Widescreen</PresentationFormat>
  <Paragraphs>373</Paragraphs>
  <Slides>20</Slides>
  <Notes>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Arial</vt:lpstr>
      <vt:lpstr>Verdana</vt:lpstr>
      <vt:lpstr>Bookman Old Style</vt:lpstr>
      <vt:lpstr>Cambria</vt:lpstr>
      <vt:lpstr>Wingdings</vt:lpstr>
      <vt:lpstr>Calibri</vt:lpstr>
      <vt:lpstr>Microsoft YaHei</vt:lpstr>
      <vt:lpstr>Arial Unicode MS</vt:lpstr>
      <vt:lpstr>Bioinformatics</vt:lpstr>
      <vt:lpstr>PROJECT TITLE PSCS_282_AI-Driven Crop Disease Prediction and Management System</vt:lpstr>
      <vt:lpstr>Content</vt:lpstr>
      <vt:lpstr>Problem Statement Number: PSCS_282</vt:lpstr>
      <vt:lpstr>Abstract</vt:lpstr>
      <vt:lpstr>Literature Survey</vt:lpstr>
      <vt:lpstr>Literature Survey(contd...)</vt:lpstr>
      <vt:lpstr>Objectives</vt:lpstr>
      <vt:lpstr>Existing Methods and Drawbacks</vt:lpstr>
      <vt:lpstr>Proposed Method &amp; Feasibility Study</vt:lpstr>
      <vt:lpstr>PowerPoint 演示文稿</vt:lpstr>
      <vt:lpstr>Architecture Diagram</vt:lpstr>
      <vt:lpstr>Algorithm Details</vt:lpstr>
      <vt:lpstr>Algorithm Details</vt:lpstr>
      <vt:lpstr>Source Code Highlights</vt:lpstr>
      <vt:lpstr>Source Code Highlights</vt:lpstr>
      <vt:lpstr>Source Code Highlights</vt:lpstr>
      <vt:lpstr>Hardware and Software Details</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Akash Mandagere</cp:lastModifiedBy>
  <cp:revision>54</cp:revision>
  <dcterms:created xsi:type="dcterms:W3CDTF">2025-08-17T15:01:00Z</dcterms:created>
  <dcterms:modified xsi:type="dcterms:W3CDTF">2025-09-27T06:57:54Z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379DC3FF39454F528BE5892D511729D3_12</vt:lpwstr>
  </property>
  <property fmtid="{D5CDD505-2E9C-101B-9397-08002B2CF9AE}" pid="3" name="KSOProductBuildVer">
    <vt:lpwstr>2057-12.2.0.22556</vt:lpwstr>
  </property>
</Properties>
</file>